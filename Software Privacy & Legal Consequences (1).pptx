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8288000" cy="10287000"/>
  <p:notesSz cx="6858000" cy="9144000"/>
  <p:embeddedFontLst>
    <p:embeddedFont>
      <p:font typeface="Times New Roman Bold" panose="02020803070505020304"/>
      <p:bold r:id="rId20"/>
    </p:embeddedFont>
    <p:embeddedFont>
      <p:font typeface="Inter" panose="020B0502030000000004"/>
      <p:regular r:id="rId21"/>
    </p:embeddedFont>
    <p:embeddedFont>
      <p:font typeface="Anton" panose="00000500000000000000"/>
      <p:regular r:id="rId22"/>
    </p:embeddedFont>
    <p:embeddedFont>
      <p:font typeface="Inter Light" panose="02000503000000020004"/>
      <p:regular r:id="rId23"/>
    </p:embeddedFont>
    <p:embeddedFont>
      <p:font typeface="Inter Bold" panose="020B0802030000000004"/>
      <p:bold r:id="rId24"/>
    </p:embeddedFont>
    <p:embeddedFont>
      <p:font typeface="Calibri" panose="020F050202020403020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jpeg"/><Relationship Id="rId2" Type="http://schemas.openxmlformats.org/officeDocument/2006/relationships/image" Target="../media/image5.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jpeg"/><Relationship Id="rId2" Type="http://schemas.openxmlformats.org/officeDocument/2006/relationships/image" Target="../media/image5.sv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jpeg"/><Relationship Id="rId2" Type="http://schemas.openxmlformats.org/officeDocument/2006/relationships/image" Target="../media/image2.sv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svg"/><Relationship Id="rId7" Type="http://schemas.openxmlformats.org/officeDocument/2006/relationships/image" Target="../media/image16.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2" Type="http://schemas.openxmlformats.org/officeDocument/2006/relationships/slideLayout" Target="../slideLayouts/slideLayout7.xml"/><Relationship Id="rId11" Type="http://schemas.openxmlformats.org/officeDocument/2006/relationships/image" Target="../media/image20.png"/><Relationship Id="rId10" Type="http://schemas.openxmlformats.org/officeDocument/2006/relationships/image" Target="../media/image19.sv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svg"/><Relationship Id="rId7" Type="http://schemas.openxmlformats.org/officeDocument/2006/relationships/image" Target="../media/image16.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2" Type="http://schemas.openxmlformats.org/officeDocument/2006/relationships/slideLayout" Target="../slideLayouts/slideLayout7.xml"/><Relationship Id="rId11" Type="http://schemas.openxmlformats.org/officeDocument/2006/relationships/image" Target="../media/image21.png"/><Relationship Id="rId10" Type="http://schemas.openxmlformats.org/officeDocument/2006/relationships/image" Target="../media/image19.svg"/><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EF9FF"/>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5082999" y="6974376"/>
            <a:ext cx="4802830" cy="4558323"/>
          </a:xfrm>
          <a:custGeom>
            <a:avLst/>
            <a:gdLst/>
            <a:ahLst/>
            <a:cxnLst/>
            <a:rect l="l" t="t" r="r" b="b"/>
            <a:pathLst>
              <a:path w="4802830" h="4558323">
                <a:moveTo>
                  <a:pt x="0" y="0"/>
                </a:moveTo>
                <a:lnTo>
                  <a:pt x="4802830" y="0"/>
                </a:lnTo>
                <a:lnTo>
                  <a:pt x="4802830" y="4558323"/>
                </a:lnTo>
                <a:lnTo>
                  <a:pt x="0" y="455832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AutoShape 4"/>
          <p:cNvSpPr/>
          <p:nvPr/>
        </p:nvSpPr>
        <p:spPr>
          <a:xfrm>
            <a:off x="3615197" y="1023938"/>
            <a:ext cx="13644103" cy="0"/>
          </a:xfrm>
          <a:prstGeom prst="line">
            <a:avLst/>
          </a:prstGeom>
          <a:ln w="19050" cap="flat">
            <a:solidFill>
              <a:srgbClr val="063D86"/>
            </a:solidFill>
            <a:prstDash val="solid"/>
            <a:headEnd type="none" w="sm" len="sm"/>
            <a:tailEnd type="none" w="sm" len="sm"/>
          </a:ln>
        </p:spPr>
      </p:sp>
      <p:sp>
        <p:nvSpPr>
          <p:cNvPr id="5" name="AutoShape 5"/>
          <p:cNvSpPr/>
          <p:nvPr/>
        </p:nvSpPr>
        <p:spPr>
          <a:xfrm>
            <a:off x="1028700" y="9253537"/>
            <a:ext cx="14402285" cy="0"/>
          </a:xfrm>
          <a:prstGeom prst="line">
            <a:avLst/>
          </a:prstGeom>
          <a:ln w="19050" cap="flat">
            <a:solidFill>
              <a:srgbClr val="063D86"/>
            </a:solidFill>
            <a:prstDash val="solid"/>
            <a:headEnd type="none" w="sm" len="sm"/>
            <a:tailEnd type="none" w="sm" len="sm"/>
          </a:ln>
        </p:spPr>
      </p:sp>
      <p:sp>
        <p:nvSpPr>
          <p:cNvPr id="6" name="AutoShape 6"/>
          <p:cNvSpPr/>
          <p:nvPr/>
        </p:nvSpPr>
        <p:spPr>
          <a:xfrm>
            <a:off x="17264062" y="1028700"/>
            <a:ext cx="0" cy="5993654"/>
          </a:xfrm>
          <a:prstGeom prst="line">
            <a:avLst/>
          </a:prstGeom>
          <a:ln w="19050" cap="flat">
            <a:solidFill>
              <a:srgbClr val="063D86"/>
            </a:solidFill>
            <a:prstDash val="solid"/>
            <a:headEnd type="none" w="sm" len="sm"/>
            <a:tailEnd type="none" w="sm" len="sm"/>
          </a:ln>
        </p:spPr>
      </p:sp>
      <p:sp>
        <p:nvSpPr>
          <p:cNvPr id="7" name="AutoShape 7"/>
          <p:cNvSpPr/>
          <p:nvPr/>
        </p:nvSpPr>
        <p:spPr>
          <a:xfrm flipH="1">
            <a:off x="1023938" y="2746700"/>
            <a:ext cx="4762" cy="6506837"/>
          </a:xfrm>
          <a:prstGeom prst="line">
            <a:avLst/>
          </a:prstGeom>
          <a:ln w="19050" cap="flat">
            <a:solidFill>
              <a:srgbClr val="063D86"/>
            </a:solidFill>
            <a:prstDash val="solid"/>
            <a:headEnd type="none" w="sm" len="sm"/>
            <a:tailEnd type="none" w="sm" len="sm"/>
          </a:ln>
        </p:spPr>
      </p:sp>
      <p:sp>
        <p:nvSpPr>
          <p:cNvPr id="8" name="TextBox 8"/>
          <p:cNvSpPr txBox="1"/>
          <p:nvPr/>
        </p:nvSpPr>
        <p:spPr>
          <a:xfrm>
            <a:off x="2356723" y="3214217"/>
            <a:ext cx="13579316" cy="4933263"/>
          </a:xfrm>
          <a:prstGeom prst="rect">
            <a:avLst/>
          </a:prstGeom>
        </p:spPr>
        <p:txBody>
          <a:bodyPr lIns="0" tIns="0" rIns="0" bIns="0" rtlCol="0" anchor="t">
            <a:spAutoFit/>
          </a:bodyPr>
          <a:lstStyle/>
          <a:p>
            <a:pPr algn="ctr">
              <a:lnSpc>
                <a:spcPts val="12580"/>
              </a:lnSpc>
            </a:pPr>
            <a:r>
              <a:rPr lang="en-US" sz="12970" b="1" spc="-376">
                <a:solidFill>
                  <a:srgbClr val="063D86"/>
                </a:solidFill>
                <a:latin typeface="Times New Roman Bold" panose="02020803070505020304"/>
                <a:ea typeface="Times New Roman Bold" panose="02020803070505020304"/>
                <a:cs typeface="Times New Roman Bold" panose="02020803070505020304"/>
                <a:sym typeface="Times New Roman Bold" panose="02020803070505020304"/>
              </a:rPr>
              <a:t>Software Privacy </a:t>
            </a:r>
            <a:endParaRPr lang="en-US" sz="12970" b="1" spc="-376">
              <a:solidFill>
                <a:srgbClr val="063D86"/>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12580"/>
              </a:lnSpc>
            </a:pPr>
            <a:r>
              <a:rPr lang="en-US" sz="12970" b="1" spc="-376">
                <a:solidFill>
                  <a:srgbClr val="063D86"/>
                </a:solidFill>
                <a:latin typeface="Times New Roman Bold" panose="02020803070505020304"/>
                <a:ea typeface="Times New Roman Bold" panose="02020803070505020304"/>
                <a:cs typeface="Times New Roman Bold" panose="02020803070505020304"/>
                <a:sym typeface="Times New Roman Bold" panose="02020803070505020304"/>
              </a:rPr>
              <a:t>&amp; </a:t>
            </a:r>
            <a:endParaRPr lang="en-US" sz="12970" b="1" spc="-376">
              <a:solidFill>
                <a:srgbClr val="063D86"/>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12580"/>
              </a:lnSpc>
            </a:pPr>
            <a:r>
              <a:rPr lang="en-US" sz="12970" b="1" spc="-376">
                <a:solidFill>
                  <a:srgbClr val="063D86"/>
                </a:solidFill>
                <a:latin typeface="Times New Roman Bold" panose="02020803070505020304"/>
                <a:ea typeface="Times New Roman Bold" panose="02020803070505020304"/>
                <a:cs typeface="Times New Roman Bold" panose="02020803070505020304"/>
                <a:sym typeface="Times New Roman Bold" panose="02020803070505020304"/>
              </a:rPr>
              <a:t>Legal Consequences</a:t>
            </a:r>
            <a:endParaRPr lang="en-US" sz="12970" b="1" spc="-376">
              <a:solidFill>
                <a:srgbClr val="063D86"/>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9" name="TextBox 9"/>
          <p:cNvSpPr txBox="1"/>
          <p:nvPr/>
        </p:nvSpPr>
        <p:spPr>
          <a:xfrm>
            <a:off x="10982596" y="8423705"/>
            <a:ext cx="4100403" cy="495301"/>
          </a:xfrm>
          <a:prstGeom prst="rect">
            <a:avLst/>
          </a:prstGeom>
        </p:spPr>
        <p:txBody>
          <a:bodyPr lIns="0" tIns="0" rIns="0" bIns="0" rtlCol="0" anchor="t">
            <a:spAutoFit/>
          </a:bodyPr>
          <a:lstStyle/>
          <a:p>
            <a:pPr algn="ctr">
              <a:lnSpc>
                <a:spcPts val="4200"/>
              </a:lnSpc>
              <a:spcBef>
                <a:spcPct val="0"/>
              </a:spcBef>
            </a:pPr>
            <a:r>
              <a:rPr lang="en-US" sz="3000" spc="-86">
                <a:solidFill>
                  <a:srgbClr val="063D86"/>
                </a:solidFill>
                <a:latin typeface="Inter" panose="020B0502030000000004"/>
                <a:ea typeface="Inter" panose="020B0502030000000004"/>
                <a:cs typeface="Inter" panose="020B0502030000000004"/>
                <a:sym typeface="Inter" panose="020B0502030000000004"/>
              </a:rPr>
              <a:t>By: Safalta Shrestha</a:t>
            </a:r>
            <a:endParaRPr lang="en-US" sz="3000" spc="-86">
              <a:solidFill>
                <a:srgbClr val="063D86"/>
              </a:solidFill>
              <a:latin typeface="Inter" panose="020B0502030000000004"/>
              <a:ea typeface="Inter" panose="020B0502030000000004"/>
              <a:cs typeface="Inter" panose="020B0502030000000004"/>
              <a:sym typeface="Inter" panose="020B050203000000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EF9FF"/>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5082999" y="6974376"/>
            <a:ext cx="4802830" cy="4558323"/>
          </a:xfrm>
          <a:custGeom>
            <a:avLst/>
            <a:gdLst/>
            <a:ahLst/>
            <a:cxnLst/>
            <a:rect l="l" t="t" r="r" b="b"/>
            <a:pathLst>
              <a:path w="4802830" h="4558323">
                <a:moveTo>
                  <a:pt x="0" y="0"/>
                </a:moveTo>
                <a:lnTo>
                  <a:pt x="4802830" y="0"/>
                </a:lnTo>
                <a:lnTo>
                  <a:pt x="4802830" y="4558323"/>
                </a:lnTo>
                <a:lnTo>
                  <a:pt x="0" y="455832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AutoShape 4"/>
          <p:cNvSpPr/>
          <p:nvPr/>
        </p:nvSpPr>
        <p:spPr>
          <a:xfrm>
            <a:off x="3615197" y="1023938"/>
            <a:ext cx="13644103" cy="0"/>
          </a:xfrm>
          <a:prstGeom prst="line">
            <a:avLst/>
          </a:prstGeom>
          <a:ln w="19050" cap="flat">
            <a:solidFill>
              <a:srgbClr val="063D86"/>
            </a:solidFill>
            <a:prstDash val="solid"/>
            <a:headEnd type="none" w="sm" len="sm"/>
            <a:tailEnd type="none" w="sm" len="sm"/>
          </a:ln>
        </p:spPr>
      </p:sp>
      <p:sp>
        <p:nvSpPr>
          <p:cNvPr id="5" name="AutoShape 5"/>
          <p:cNvSpPr/>
          <p:nvPr/>
        </p:nvSpPr>
        <p:spPr>
          <a:xfrm>
            <a:off x="1028700" y="9253537"/>
            <a:ext cx="14402285" cy="0"/>
          </a:xfrm>
          <a:prstGeom prst="line">
            <a:avLst/>
          </a:prstGeom>
          <a:ln w="19050" cap="flat">
            <a:solidFill>
              <a:srgbClr val="063D86"/>
            </a:solidFill>
            <a:prstDash val="solid"/>
            <a:headEnd type="none" w="sm" len="sm"/>
            <a:tailEnd type="none" w="sm" len="sm"/>
          </a:ln>
        </p:spPr>
      </p:sp>
      <p:sp>
        <p:nvSpPr>
          <p:cNvPr id="6" name="AutoShape 6"/>
          <p:cNvSpPr/>
          <p:nvPr/>
        </p:nvSpPr>
        <p:spPr>
          <a:xfrm>
            <a:off x="17264062" y="1028700"/>
            <a:ext cx="0" cy="5993654"/>
          </a:xfrm>
          <a:prstGeom prst="line">
            <a:avLst/>
          </a:prstGeom>
          <a:ln w="19050" cap="flat">
            <a:solidFill>
              <a:srgbClr val="063D86"/>
            </a:solidFill>
            <a:prstDash val="solid"/>
            <a:headEnd type="none" w="sm" len="sm"/>
            <a:tailEnd type="none" w="sm" len="sm"/>
          </a:ln>
        </p:spPr>
      </p:sp>
      <p:sp>
        <p:nvSpPr>
          <p:cNvPr id="7" name="AutoShape 7"/>
          <p:cNvSpPr/>
          <p:nvPr/>
        </p:nvSpPr>
        <p:spPr>
          <a:xfrm flipH="1">
            <a:off x="1023938" y="2746700"/>
            <a:ext cx="4762" cy="6506837"/>
          </a:xfrm>
          <a:prstGeom prst="line">
            <a:avLst/>
          </a:prstGeom>
          <a:ln w="19050" cap="flat">
            <a:solidFill>
              <a:srgbClr val="063D86"/>
            </a:solidFill>
            <a:prstDash val="solid"/>
            <a:headEnd type="none" w="sm" len="sm"/>
            <a:tailEnd type="none" w="sm" len="sm"/>
          </a:ln>
        </p:spPr>
      </p:sp>
      <p:sp>
        <p:nvSpPr>
          <p:cNvPr id="8" name="TextBox 8"/>
          <p:cNvSpPr txBox="1"/>
          <p:nvPr/>
        </p:nvSpPr>
        <p:spPr>
          <a:xfrm>
            <a:off x="2630839" y="2270082"/>
            <a:ext cx="13768811" cy="5210556"/>
          </a:xfrm>
          <a:prstGeom prst="rect">
            <a:avLst/>
          </a:prstGeom>
        </p:spPr>
        <p:txBody>
          <a:bodyPr lIns="0" tIns="0" rIns="0" bIns="0" rtlCol="0" anchor="t">
            <a:spAutoFit/>
          </a:bodyPr>
          <a:lstStyle/>
          <a:p>
            <a:pPr algn="ctr">
              <a:lnSpc>
                <a:spcPts val="3490"/>
              </a:lnSpc>
            </a:pPr>
            <a:r>
              <a:rPr lang="en-US" sz="3600" b="1" spc="-104">
                <a:solidFill>
                  <a:srgbClr val="063D86"/>
                </a:solidFill>
                <a:latin typeface="Times New Roman Bold" panose="02020803070505020304"/>
                <a:ea typeface="Times New Roman Bold" panose="02020803070505020304"/>
                <a:cs typeface="Times New Roman Bold" panose="02020803070505020304"/>
                <a:sym typeface="Times New Roman Bold" panose="02020803070505020304"/>
              </a:rPr>
              <a:t>Table of Content</a:t>
            </a:r>
            <a:endParaRPr lang="en-US" sz="3600" b="1" spc="-104">
              <a:solidFill>
                <a:srgbClr val="063D86"/>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2755"/>
              </a:lnSpc>
            </a:p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Introduction</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Types of  Software Privacy Issues</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Importance</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Privacy Laws &amp; Regulations</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Legal Consequences of Priavcy Violations</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Real-World Cases</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Rights of Users</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Responsibilities of software developers</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Future challenges</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a:p>
            <a:pPr marL="777240" lvl="1" indent="-388620" algn="l">
              <a:lnSpc>
                <a:spcPts val="3490"/>
              </a:lnSpc>
              <a:buFont typeface="Arial" panose="020B0604020202020204"/>
              <a:buChar char="•"/>
            </a:pPr>
            <a:r>
              <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rPr>
              <a:t>Conclusion</a:t>
            </a:r>
            <a:endParaRPr lang="en-US" sz="3600" spc="-104">
              <a:solidFill>
                <a:srgbClr val="063D86"/>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229600"/>
            <a:chOff x="0" y="0"/>
            <a:chExt cx="4274726" cy="2167467"/>
          </a:xfrm>
        </p:grpSpPr>
        <p:sp>
          <p:nvSpPr>
            <p:cNvPr id="5" name="Freeform 5"/>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05567"/>
            </a:xfrm>
            <a:prstGeom prst="rect">
              <a:avLst/>
            </a:prstGeom>
          </p:spPr>
          <p:txBody>
            <a:bodyPr lIns="50800" tIns="50800" rIns="50800" bIns="50800" rtlCol="0" anchor="ctr"/>
            <a:lstStyle/>
            <a:p>
              <a:pPr algn="ctr">
                <a:lnSpc>
                  <a:spcPts val="2940"/>
                </a:lnSpc>
              </a:pPr>
            </a:p>
          </p:txBody>
        </p:sp>
      </p:grpSp>
      <p:grpSp>
        <p:nvGrpSpPr>
          <p:cNvPr id="7" name="Group 7"/>
          <p:cNvGrpSpPr/>
          <p:nvPr/>
        </p:nvGrpSpPr>
        <p:grpSpPr>
          <a:xfrm rot="0">
            <a:off x="9667543" y="1028700"/>
            <a:ext cx="7591757" cy="8229600"/>
            <a:chOff x="0" y="0"/>
            <a:chExt cx="1176162" cy="1274980"/>
          </a:xfrm>
        </p:grpSpPr>
        <p:sp>
          <p:nvSpPr>
            <p:cNvPr id="8" name="Freeform 8"/>
            <p:cNvSpPr/>
            <p:nvPr/>
          </p:nvSpPr>
          <p:spPr>
            <a:xfrm>
              <a:off x="0" y="0"/>
              <a:ext cx="1176162" cy="1274980"/>
            </a:xfrm>
            <a:custGeom>
              <a:avLst/>
              <a:gdLst/>
              <a:ahLst/>
              <a:cxnLst/>
              <a:rect l="l" t="t" r="r" b="b"/>
              <a:pathLst>
                <a:path w="1176162" h="1274980">
                  <a:moveTo>
                    <a:pt x="0" y="0"/>
                  </a:moveTo>
                  <a:lnTo>
                    <a:pt x="1176162" y="0"/>
                  </a:lnTo>
                  <a:lnTo>
                    <a:pt x="1176162" y="1274980"/>
                  </a:lnTo>
                  <a:lnTo>
                    <a:pt x="0" y="1274980"/>
                  </a:lnTo>
                  <a:close/>
                </a:path>
              </a:pathLst>
            </a:custGeom>
            <a:blipFill>
              <a:blip r:embed="rId3"/>
              <a:stretch>
                <a:fillRect l="-62399"/>
              </a:stretch>
            </a:blipFill>
            <a:ln w="19050" cap="sq">
              <a:solidFill>
                <a:srgbClr val="AEF9FF"/>
              </a:solidFill>
              <a:prstDash val="solid"/>
              <a:miter/>
            </a:ln>
          </p:spPr>
        </p:sp>
      </p:grpSp>
      <p:sp>
        <p:nvSpPr>
          <p:cNvPr id="9" name="TextBox 9"/>
          <p:cNvSpPr txBox="1"/>
          <p:nvPr/>
        </p:nvSpPr>
        <p:spPr>
          <a:xfrm>
            <a:off x="1851669" y="1907711"/>
            <a:ext cx="7292331" cy="1400247"/>
          </a:xfrm>
          <a:prstGeom prst="rect">
            <a:avLst/>
          </a:prstGeom>
        </p:spPr>
        <p:txBody>
          <a:bodyPr lIns="0" tIns="0" rIns="0" bIns="0" rtlCol="0" anchor="t">
            <a:spAutoFit/>
          </a:bodyPr>
          <a:lstStyle/>
          <a:p>
            <a:pPr algn="l">
              <a:lnSpc>
                <a:spcPts val="10440"/>
              </a:lnSpc>
            </a:pPr>
            <a:r>
              <a:rPr lang="en-US" sz="10760" spc="-312">
                <a:solidFill>
                  <a:srgbClr val="AEF9FF"/>
                </a:solidFill>
                <a:latin typeface="Anton" panose="00000500000000000000"/>
                <a:ea typeface="Anton" panose="00000500000000000000"/>
                <a:cs typeface="Anton" panose="00000500000000000000"/>
                <a:sym typeface="Anton" panose="00000500000000000000"/>
              </a:rPr>
              <a:t>INTRODUCTION</a:t>
            </a:r>
            <a:endParaRPr lang="en-US" sz="10760" spc="-312">
              <a:solidFill>
                <a:srgbClr val="AEF9FF"/>
              </a:solidFill>
              <a:latin typeface="Anton" panose="00000500000000000000"/>
              <a:ea typeface="Anton" panose="00000500000000000000"/>
              <a:cs typeface="Anton" panose="00000500000000000000"/>
              <a:sym typeface="Anton" panose="00000500000000000000"/>
            </a:endParaRPr>
          </a:p>
        </p:txBody>
      </p:sp>
      <p:sp>
        <p:nvSpPr>
          <p:cNvPr id="10" name="TextBox 10"/>
          <p:cNvSpPr txBox="1"/>
          <p:nvPr/>
        </p:nvSpPr>
        <p:spPr>
          <a:xfrm>
            <a:off x="1598190" y="3584929"/>
            <a:ext cx="7205960" cy="5217884"/>
          </a:xfrm>
          <a:prstGeom prst="rect">
            <a:avLst/>
          </a:prstGeom>
        </p:spPr>
        <p:txBody>
          <a:bodyPr lIns="0" tIns="0" rIns="0" bIns="0" rtlCol="0" anchor="t">
            <a:spAutoFit/>
          </a:bodyPr>
          <a:lstStyle/>
          <a:p>
            <a:pPr marL="638175" lvl="1" indent="-319405" algn="just">
              <a:lnSpc>
                <a:spcPts val="4140"/>
              </a:lnSpc>
              <a:buFont typeface="Arial" panose="020B0604020202020204"/>
              <a:buChar char="•"/>
            </a:pPr>
            <a:r>
              <a:rPr lang="en-US" sz="2955" spc="-85">
                <a:solidFill>
                  <a:srgbClr val="AEF9FF"/>
                </a:solidFill>
                <a:latin typeface="Inter Light" panose="02000503000000020004"/>
                <a:ea typeface="Inter Light" panose="02000503000000020004"/>
                <a:cs typeface="Inter Light" panose="02000503000000020004"/>
                <a:sym typeface="Inter Light" panose="02000503000000020004"/>
              </a:rPr>
              <a:t>Software p</a:t>
            </a:r>
            <a:r>
              <a:rPr lang="en-US" sz="2955" spc="-85">
                <a:solidFill>
                  <a:srgbClr val="AEF9FF"/>
                </a:solidFill>
                <a:latin typeface="Inter Light" panose="02000503000000020004"/>
                <a:ea typeface="Inter Light" panose="02000503000000020004"/>
                <a:cs typeface="Inter Light" panose="02000503000000020004"/>
                <a:sym typeface="Inter Light" panose="02000503000000020004"/>
              </a:rPr>
              <a:t>rivacy refers to the protection of users' personal and sensitive information that is collected, stored, processed, or shared by software applications.</a:t>
            </a:r>
            <a:endParaRPr lang="en-US" sz="2955" spc="-85">
              <a:solidFill>
                <a:srgbClr val="AEF9FF"/>
              </a:solidFill>
              <a:latin typeface="Inter Light" panose="02000503000000020004"/>
              <a:ea typeface="Inter Light" panose="02000503000000020004"/>
              <a:cs typeface="Inter Light" panose="02000503000000020004"/>
              <a:sym typeface="Inter Light" panose="02000503000000020004"/>
            </a:endParaRPr>
          </a:p>
          <a:p>
            <a:pPr algn="just">
              <a:lnSpc>
                <a:spcPts val="4140"/>
              </a:lnSpc>
            </a:pPr>
          </a:p>
          <a:p>
            <a:pPr marL="638175" lvl="1" indent="-319405" algn="l">
              <a:lnSpc>
                <a:spcPts val="4140"/>
              </a:lnSpc>
              <a:buFont typeface="Arial" panose="020B0604020202020204"/>
              <a:buChar char="•"/>
            </a:pPr>
            <a:r>
              <a:rPr lang="en-US" sz="2955" spc="-85">
                <a:solidFill>
                  <a:srgbClr val="AEF9FF"/>
                </a:solidFill>
                <a:latin typeface="Inter Light" panose="02000503000000020004"/>
                <a:ea typeface="Inter Light" panose="02000503000000020004"/>
                <a:cs typeface="Inter Light" panose="02000503000000020004"/>
                <a:sym typeface="Inter Light" panose="02000503000000020004"/>
              </a:rPr>
              <a:t>Modern software collects various types of data including personal data, financial data , location data, behavioral data and biometric data.</a:t>
            </a:r>
            <a:endParaRPr lang="en-US" sz="2955" spc="-85">
              <a:solidFill>
                <a:srgbClr val="AEF9FF"/>
              </a:solidFill>
              <a:latin typeface="Inter Light" panose="02000503000000020004"/>
              <a:ea typeface="Inter Light" panose="02000503000000020004"/>
              <a:cs typeface="Inter Light" panose="02000503000000020004"/>
              <a:sym typeface="Inter Light" panose="020005030000000200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381717"/>
            <a:chOff x="0" y="0"/>
            <a:chExt cx="4274726" cy="2207530"/>
          </a:xfrm>
        </p:grpSpPr>
        <p:sp>
          <p:nvSpPr>
            <p:cNvPr id="5" name="Freeform 5"/>
            <p:cNvSpPr/>
            <p:nvPr/>
          </p:nvSpPr>
          <p:spPr>
            <a:xfrm>
              <a:off x="0" y="0"/>
              <a:ext cx="4274726" cy="2207530"/>
            </a:xfrm>
            <a:custGeom>
              <a:avLst/>
              <a:gdLst/>
              <a:ahLst/>
              <a:cxnLst/>
              <a:rect l="l" t="t" r="r" b="b"/>
              <a:pathLst>
                <a:path w="4274726" h="2207530">
                  <a:moveTo>
                    <a:pt x="0" y="0"/>
                  </a:moveTo>
                  <a:lnTo>
                    <a:pt x="4274726" y="0"/>
                  </a:lnTo>
                  <a:lnTo>
                    <a:pt x="4274726" y="2207530"/>
                  </a:lnTo>
                  <a:lnTo>
                    <a:pt x="0" y="2207530"/>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45630"/>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2817756" y="1894270"/>
            <a:ext cx="13680834" cy="1040368"/>
          </a:xfrm>
          <a:prstGeom prst="rect">
            <a:avLst/>
          </a:prstGeom>
        </p:spPr>
        <p:txBody>
          <a:bodyPr lIns="0" tIns="0" rIns="0" bIns="0" rtlCol="0" anchor="t">
            <a:spAutoFit/>
          </a:bodyPr>
          <a:lstStyle/>
          <a:p>
            <a:pPr algn="l">
              <a:lnSpc>
                <a:spcPts val="7660"/>
              </a:lnSpc>
            </a:pPr>
            <a:r>
              <a:rPr lang="en-US" sz="7900" spc="-229">
                <a:solidFill>
                  <a:srgbClr val="AEF9FF"/>
                </a:solidFill>
                <a:latin typeface="Anton" panose="00000500000000000000"/>
                <a:ea typeface="Anton" panose="00000500000000000000"/>
                <a:cs typeface="Anton" panose="00000500000000000000"/>
                <a:sym typeface="Anton" panose="00000500000000000000"/>
              </a:rPr>
              <a:t>TYPES OF SOFTWARE PRIVACY ISSUES</a:t>
            </a:r>
            <a:endParaRPr lang="en-US" sz="7900" spc="-229">
              <a:solidFill>
                <a:srgbClr val="AEF9FF"/>
              </a:solidFill>
              <a:latin typeface="Anton" panose="00000500000000000000"/>
              <a:ea typeface="Anton" panose="00000500000000000000"/>
              <a:cs typeface="Anton" panose="00000500000000000000"/>
              <a:sym typeface="Anton" panose="00000500000000000000"/>
            </a:endParaRPr>
          </a:p>
        </p:txBody>
      </p:sp>
      <p:sp>
        <p:nvSpPr>
          <p:cNvPr id="8" name="TextBox 8"/>
          <p:cNvSpPr txBox="1"/>
          <p:nvPr/>
        </p:nvSpPr>
        <p:spPr>
          <a:xfrm>
            <a:off x="1851669" y="3215662"/>
            <a:ext cx="14271139" cy="6042638"/>
          </a:xfrm>
          <a:prstGeom prst="rect">
            <a:avLst/>
          </a:prstGeom>
        </p:spPr>
        <p:txBody>
          <a:bodyPr lIns="0" tIns="0" rIns="0" bIns="0" rtlCol="0" anchor="t">
            <a:spAutoFit/>
          </a:bodyPr>
          <a:lstStyle/>
          <a:p>
            <a:pPr marL="615315" lvl="1" indent="-307975" algn="just">
              <a:lnSpc>
                <a:spcPts val="3990"/>
              </a:lnSpc>
              <a:buFont typeface="Arial" panose="020B0604020202020204"/>
              <a:buChar char="•"/>
            </a:pPr>
            <a:r>
              <a:rPr lang="en-US" sz="2850" b="1" spc="-82">
                <a:solidFill>
                  <a:srgbClr val="AEF9FF"/>
                </a:solidFill>
                <a:latin typeface="Inter Bold" panose="020B0802030000000004"/>
                <a:ea typeface="Inter Bold" panose="020B0802030000000004"/>
                <a:cs typeface="Inter Bold" panose="020B0802030000000004"/>
                <a:sym typeface="Inter Bold" panose="020B0802030000000004"/>
              </a:rPr>
              <a:t>Data Collection and Tracking:</a:t>
            </a:r>
            <a:r>
              <a:rPr lang="en-US" sz="2850" spc="-82">
                <a:solidFill>
                  <a:srgbClr val="AEF9FF"/>
                </a:solidFill>
                <a:latin typeface="Inter" panose="020B0502030000000004"/>
                <a:ea typeface="Inter" panose="020B0502030000000004"/>
                <a:cs typeface="Inter" panose="020B0502030000000004"/>
                <a:sym typeface="Inter" panose="020B0502030000000004"/>
              </a:rPr>
              <a:t> Many applications collect information about users' browsing habits, location, and online activities, often without users fully understanding the extent of the tracking.</a:t>
            </a:r>
            <a:endParaRPr lang="en-US" sz="2850" spc="-82">
              <a:solidFill>
                <a:srgbClr val="AEF9FF"/>
              </a:solidFill>
              <a:latin typeface="Inter" panose="020B0502030000000004"/>
              <a:ea typeface="Inter" panose="020B0502030000000004"/>
              <a:cs typeface="Inter" panose="020B0502030000000004"/>
              <a:sym typeface="Inter" panose="020B0502030000000004"/>
            </a:endParaRPr>
          </a:p>
          <a:p>
            <a:pPr marL="615315" lvl="1" indent="-307975" algn="just">
              <a:lnSpc>
                <a:spcPts val="3990"/>
              </a:lnSpc>
              <a:buFont typeface="Arial" panose="020B0604020202020204"/>
              <a:buChar char="•"/>
            </a:pPr>
            <a:r>
              <a:rPr lang="en-US" sz="2850" b="1" spc="-82">
                <a:solidFill>
                  <a:srgbClr val="AEF9FF"/>
                </a:solidFill>
                <a:latin typeface="Inter Bold" panose="020B0802030000000004"/>
                <a:ea typeface="Inter Bold" panose="020B0802030000000004"/>
                <a:cs typeface="Inter Bold" panose="020B0802030000000004"/>
                <a:sym typeface="Inter Bold" panose="020B0802030000000004"/>
              </a:rPr>
              <a:t>Unauthorized Data Sharing:</a:t>
            </a:r>
            <a:r>
              <a:rPr lang="en-US" sz="2850" spc="-82">
                <a:solidFill>
                  <a:srgbClr val="AEF9FF"/>
                </a:solidFill>
                <a:latin typeface="Inter" panose="020B0502030000000004"/>
                <a:ea typeface="Inter" panose="020B0502030000000004"/>
                <a:cs typeface="Inter" panose="020B0502030000000004"/>
                <a:sym typeface="Inter" panose="020B0502030000000004"/>
              </a:rPr>
              <a:t> Organizations may share or sell user information to third parties without obtaining clear consent, leading to privacy concerns and loss of trust.</a:t>
            </a:r>
            <a:endParaRPr lang="en-US" sz="2850" spc="-82">
              <a:solidFill>
                <a:srgbClr val="AEF9FF"/>
              </a:solidFill>
              <a:latin typeface="Inter" panose="020B0502030000000004"/>
              <a:ea typeface="Inter" panose="020B0502030000000004"/>
              <a:cs typeface="Inter" panose="020B0502030000000004"/>
              <a:sym typeface="Inter" panose="020B0502030000000004"/>
            </a:endParaRPr>
          </a:p>
          <a:p>
            <a:pPr marL="615315" lvl="1" indent="-307975" algn="just">
              <a:lnSpc>
                <a:spcPts val="3990"/>
              </a:lnSpc>
              <a:buFont typeface="Arial" panose="020B0604020202020204"/>
              <a:buChar char="•"/>
            </a:pPr>
            <a:r>
              <a:rPr lang="en-US" sz="2850" b="1" spc="-82">
                <a:solidFill>
                  <a:srgbClr val="AEF9FF"/>
                </a:solidFill>
                <a:latin typeface="Inter Bold" panose="020B0802030000000004"/>
                <a:ea typeface="Inter Bold" panose="020B0802030000000004"/>
                <a:cs typeface="Inter Bold" panose="020B0802030000000004"/>
                <a:sym typeface="Inter Bold" panose="020B0802030000000004"/>
              </a:rPr>
              <a:t>Spyware &amp; Stalkerware: </a:t>
            </a:r>
            <a:r>
              <a:rPr lang="en-US" sz="2850" spc="-82">
                <a:solidFill>
                  <a:srgbClr val="AEF9FF"/>
                </a:solidFill>
                <a:latin typeface="Inter" panose="020B0502030000000004"/>
                <a:ea typeface="Inter" panose="020B0502030000000004"/>
                <a:cs typeface="Inter" panose="020B0502030000000004"/>
                <a:sym typeface="Inter" panose="020B0502030000000004"/>
              </a:rPr>
              <a:t>These are malicious programs designed to secretly monitor a user's activities, collect personal information, and track behavior without permission.</a:t>
            </a:r>
            <a:endParaRPr lang="en-US" sz="2850" spc="-82">
              <a:solidFill>
                <a:srgbClr val="AEF9FF"/>
              </a:solidFill>
              <a:latin typeface="Inter" panose="020B0502030000000004"/>
              <a:ea typeface="Inter" panose="020B0502030000000004"/>
              <a:cs typeface="Inter" panose="020B0502030000000004"/>
              <a:sym typeface="Inter" panose="020B0502030000000004"/>
            </a:endParaRPr>
          </a:p>
          <a:p>
            <a:pPr marL="615315" lvl="1" indent="-307975" algn="just">
              <a:lnSpc>
                <a:spcPts val="3990"/>
              </a:lnSpc>
              <a:buFont typeface="Arial" panose="020B0604020202020204"/>
              <a:buChar char="•"/>
            </a:pPr>
            <a:r>
              <a:rPr lang="en-US" sz="2850" b="1" spc="-82">
                <a:solidFill>
                  <a:srgbClr val="AEF9FF"/>
                </a:solidFill>
                <a:latin typeface="Inter Bold" panose="020B0802030000000004"/>
                <a:ea typeface="Inter Bold" panose="020B0802030000000004"/>
                <a:cs typeface="Inter Bold" panose="020B0802030000000004"/>
                <a:sym typeface="Inter Bold" panose="020B0802030000000004"/>
              </a:rPr>
              <a:t>Excessive App Permissions:</a:t>
            </a:r>
            <a:r>
              <a:rPr lang="en-US" sz="2850" spc="-82">
                <a:solidFill>
                  <a:srgbClr val="AEF9FF"/>
                </a:solidFill>
                <a:latin typeface="Inter" panose="020B0502030000000004"/>
                <a:ea typeface="Inter" panose="020B0502030000000004"/>
                <a:cs typeface="Inter" panose="020B0502030000000004"/>
                <a:sym typeface="Inter" panose="020B0502030000000004"/>
              </a:rPr>
              <a:t> Many mobile applications request access to sensitive features such as cameras, microphones, contacts, and location services, even when such access is not necessary for their functionality.</a:t>
            </a:r>
            <a:endParaRPr lang="en-US" sz="2850" spc="-82">
              <a:solidFill>
                <a:srgbClr val="AEF9FF"/>
              </a:solidFill>
              <a:latin typeface="Inter" panose="020B0502030000000004"/>
              <a:ea typeface="Inter" panose="020B0502030000000004"/>
              <a:cs typeface="Inter" panose="020B0502030000000004"/>
              <a:sym typeface="Inter" panose="020B05020300000000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381717"/>
            <a:chOff x="0" y="0"/>
            <a:chExt cx="4274726" cy="2207530"/>
          </a:xfrm>
        </p:grpSpPr>
        <p:sp>
          <p:nvSpPr>
            <p:cNvPr id="5" name="Freeform 5"/>
            <p:cNvSpPr/>
            <p:nvPr/>
          </p:nvSpPr>
          <p:spPr>
            <a:xfrm>
              <a:off x="0" y="0"/>
              <a:ext cx="4274726" cy="2207530"/>
            </a:xfrm>
            <a:custGeom>
              <a:avLst/>
              <a:gdLst/>
              <a:ahLst/>
              <a:cxnLst/>
              <a:rect l="l" t="t" r="r" b="b"/>
              <a:pathLst>
                <a:path w="4274726" h="2207530">
                  <a:moveTo>
                    <a:pt x="0" y="0"/>
                  </a:moveTo>
                  <a:lnTo>
                    <a:pt x="4274726" y="0"/>
                  </a:lnTo>
                  <a:lnTo>
                    <a:pt x="4274726" y="2207530"/>
                  </a:lnTo>
                  <a:lnTo>
                    <a:pt x="0" y="2207530"/>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45630"/>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2598735" y="2263697"/>
            <a:ext cx="13680834" cy="1040368"/>
          </a:xfrm>
          <a:prstGeom prst="rect">
            <a:avLst/>
          </a:prstGeom>
        </p:spPr>
        <p:txBody>
          <a:bodyPr lIns="0" tIns="0" rIns="0" bIns="0" rtlCol="0" anchor="t">
            <a:spAutoFit/>
          </a:bodyPr>
          <a:lstStyle/>
          <a:p>
            <a:pPr algn="l">
              <a:lnSpc>
                <a:spcPts val="7660"/>
              </a:lnSpc>
            </a:pPr>
            <a:r>
              <a:rPr lang="en-US" sz="7900" spc="-229">
                <a:solidFill>
                  <a:srgbClr val="AEF9FF"/>
                </a:solidFill>
                <a:latin typeface="Anton" panose="00000500000000000000"/>
                <a:ea typeface="Anton" panose="00000500000000000000"/>
                <a:cs typeface="Anton" panose="00000500000000000000"/>
                <a:sym typeface="Anton" panose="00000500000000000000"/>
              </a:rPr>
              <a:t>IMPORTANCE OF SOFTWARE PRIVACY </a:t>
            </a:r>
            <a:endParaRPr lang="en-US" sz="7900" spc="-229">
              <a:solidFill>
                <a:srgbClr val="AEF9FF"/>
              </a:solidFill>
              <a:latin typeface="Anton" panose="00000500000000000000"/>
              <a:ea typeface="Anton" panose="00000500000000000000"/>
              <a:cs typeface="Anton" panose="00000500000000000000"/>
              <a:sym typeface="Anton" panose="00000500000000000000"/>
            </a:endParaRPr>
          </a:p>
        </p:txBody>
      </p:sp>
      <p:sp>
        <p:nvSpPr>
          <p:cNvPr id="8" name="TextBox 8"/>
          <p:cNvSpPr txBox="1"/>
          <p:nvPr/>
        </p:nvSpPr>
        <p:spPr>
          <a:xfrm>
            <a:off x="2008431" y="3739887"/>
            <a:ext cx="14271139" cy="4451985"/>
          </a:xfrm>
          <a:prstGeom prst="rect">
            <a:avLst/>
          </a:prstGeom>
        </p:spPr>
        <p:txBody>
          <a:bodyPr lIns="0" tIns="0" rIns="0" bIns="0" rtlCol="0" anchor="t">
            <a:spAutoFit/>
          </a:bodyPr>
          <a:lstStyle/>
          <a:p>
            <a:pPr algn="just">
              <a:lnSpc>
                <a:spcPts val="5040"/>
              </a:lnSpc>
            </a:pPr>
            <a:r>
              <a:rPr lang="en-US" sz="3600" spc="-104">
                <a:solidFill>
                  <a:srgbClr val="AEF9FF"/>
                </a:solidFill>
                <a:latin typeface="Inter" panose="020B0502030000000004"/>
                <a:ea typeface="Inter" panose="020B0502030000000004"/>
                <a:cs typeface="Inter" panose="020B0502030000000004"/>
                <a:sym typeface="Inter" panose="020B0502030000000004"/>
              </a:rPr>
              <a:t>Software privacy is important because it:</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just">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Protects users from identity theft and fraud.</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just">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Builds trust between users and organizations.</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just">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Ensures compliance with legal requirements.</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just">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Prevents misuse of personal information.</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just">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Preserves individual rights and freedoms.</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algn="just">
              <a:lnSpc>
                <a:spcPts val="5040"/>
              </a:lnSpc>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229600"/>
            <a:chOff x="0" y="0"/>
            <a:chExt cx="4274726" cy="2167467"/>
          </a:xfrm>
        </p:grpSpPr>
        <p:sp>
          <p:nvSpPr>
            <p:cNvPr id="5" name="Freeform 5"/>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05567"/>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2266592" y="2063308"/>
            <a:ext cx="13754815" cy="933127"/>
          </a:xfrm>
          <a:prstGeom prst="rect">
            <a:avLst/>
          </a:prstGeom>
        </p:spPr>
        <p:txBody>
          <a:bodyPr lIns="0" tIns="0" rIns="0" bIns="0" rtlCol="0" anchor="t">
            <a:spAutoFit/>
          </a:bodyPr>
          <a:lstStyle/>
          <a:p>
            <a:pPr algn="ctr">
              <a:lnSpc>
                <a:spcPts val="6945"/>
              </a:lnSpc>
            </a:pPr>
            <a:r>
              <a:rPr lang="en-US" sz="7160" spc="-207">
                <a:solidFill>
                  <a:srgbClr val="AEF9FF"/>
                </a:solidFill>
                <a:latin typeface="Anton" panose="00000500000000000000"/>
                <a:ea typeface="Anton" panose="00000500000000000000"/>
                <a:cs typeface="Anton" panose="00000500000000000000"/>
                <a:sym typeface="Anton" panose="00000500000000000000"/>
              </a:rPr>
              <a:t>PRIVACY LAWS &amp; REGULATIONS</a:t>
            </a:r>
            <a:endParaRPr lang="en-US" sz="7160" spc="-207">
              <a:solidFill>
                <a:srgbClr val="AEF9FF"/>
              </a:solidFill>
              <a:latin typeface="Anton" panose="00000500000000000000"/>
              <a:ea typeface="Anton" panose="00000500000000000000"/>
              <a:cs typeface="Anton" panose="00000500000000000000"/>
              <a:sym typeface="Anton" panose="00000500000000000000"/>
            </a:endParaRPr>
          </a:p>
        </p:txBody>
      </p:sp>
      <p:sp>
        <p:nvSpPr>
          <p:cNvPr id="8" name="TextBox 8"/>
          <p:cNvSpPr txBox="1"/>
          <p:nvPr/>
        </p:nvSpPr>
        <p:spPr>
          <a:xfrm>
            <a:off x="2188183" y="3565879"/>
            <a:ext cx="13911635" cy="6239510"/>
          </a:xfrm>
          <a:prstGeom prst="rect">
            <a:avLst/>
          </a:prstGeom>
        </p:spPr>
        <p:txBody>
          <a:bodyPr lIns="0" tIns="0" rIns="0" bIns="0" rtlCol="0" anchor="t">
            <a:spAutoFit/>
          </a:bodyPr>
          <a:lstStyle/>
          <a:p>
            <a:pPr marL="755650" lvl="1" indent="-377825" algn="just">
              <a:lnSpc>
                <a:spcPts val="4900"/>
              </a:lnSpc>
              <a:buFont typeface="Arial" panose="020B0604020202020204"/>
              <a:buChar char="•"/>
            </a:pPr>
            <a:r>
              <a:rPr lang="en-US" sz="3500" b="1" spc="-101">
                <a:solidFill>
                  <a:srgbClr val="AEF9FF"/>
                </a:solidFill>
                <a:latin typeface="Inter Bold" panose="020B0802030000000004"/>
                <a:ea typeface="Inter Bold" panose="020B0802030000000004"/>
                <a:cs typeface="Inter Bold" panose="020B0802030000000004"/>
                <a:sym typeface="Inter Bold" panose="020B0802030000000004"/>
              </a:rPr>
              <a:t>Gene</a:t>
            </a:r>
            <a:r>
              <a:rPr lang="en-US" sz="3500" b="1" spc="-101">
                <a:solidFill>
                  <a:srgbClr val="AEF9FF"/>
                </a:solidFill>
                <a:latin typeface="Inter Bold" panose="020B0802030000000004"/>
                <a:ea typeface="Inter Bold" panose="020B0802030000000004"/>
                <a:cs typeface="Inter Bold" panose="020B0802030000000004"/>
                <a:sym typeface="Inter Bold" panose="020B0802030000000004"/>
              </a:rPr>
              <a:t>ral Data Protection Regulation (GDPR): </a:t>
            </a:r>
            <a:r>
              <a:rPr lang="en-US" sz="3500" spc="-101">
                <a:solidFill>
                  <a:srgbClr val="AEF9FF"/>
                </a:solidFill>
                <a:latin typeface="Inter Light" panose="02000503000000020004"/>
                <a:ea typeface="Inter Light" panose="02000503000000020004"/>
                <a:cs typeface="Inter Light" panose="02000503000000020004"/>
                <a:sym typeface="Inter Light" panose="02000503000000020004"/>
              </a:rPr>
              <a:t>Requires organizations to obtain clear user consent and protect personal data.</a:t>
            </a:r>
            <a:endParaRPr lang="en-US" sz="3500" spc="-101">
              <a:solidFill>
                <a:srgbClr val="AEF9FF"/>
              </a:solidFill>
              <a:latin typeface="Inter Light" panose="02000503000000020004"/>
              <a:ea typeface="Inter Light" panose="02000503000000020004"/>
              <a:cs typeface="Inter Light" panose="02000503000000020004"/>
              <a:sym typeface="Inter Light" panose="02000503000000020004"/>
            </a:endParaRPr>
          </a:p>
          <a:p>
            <a:pPr marL="755650" lvl="1" indent="-377825" algn="just">
              <a:lnSpc>
                <a:spcPts val="4900"/>
              </a:lnSpc>
              <a:buFont typeface="Arial" panose="020B0604020202020204"/>
              <a:buChar char="•"/>
            </a:pPr>
            <a:r>
              <a:rPr lang="en-US" sz="3500" b="1" spc="-101">
                <a:solidFill>
                  <a:srgbClr val="AEF9FF"/>
                </a:solidFill>
                <a:latin typeface="Inter Bold" panose="020B0802030000000004"/>
                <a:ea typeface="Inter Bold" panose="020B0802030000000004"/>
                <a:cs typeface="Inter Bold" panose="020B0802030000000004"/>
                <a:sym typeface="Inter Bold" panose="020B0802030000000004"/>
              </a:rPr>
              <a:t>California Consumer Privacy Act (CCPA): </a:t>
            </a:r>
            <a:r>
              <a:rPr lang="en-US" sz="3500" spc="-101">
                <a:solidFill>
                  <a:srgbClr val="AEF9FF"/>
                </a:solidFill>
                <a:latin typeface="Inter Light" panose="02000503000000020004"/>
                <a:ea typeface="Inter Light" panose="02000503000000020004"/>
                <a:cs typeface="Inter Light" panose="02000503000000020004"/>
                <a:sym typeface="Inter Light" panose="02000503000000020004"/>
              </a:rPr>
              <a:t>Provides consumers with rights to know, delete, and control the sale of their personal information.</a:t>
            </a:r>
            <a:endParaRPr lang="en-US" sz="3500" spc="-101">
              <a:solidFill>
                <a:srgbClr val="AEF9FF"/>
              </a:solidFill>
              <a:latin typeface="Inter Light" panose="02000503000000020004"/>
              <a:ea typeface="Inter Light" panose="02000503000000020004"/>
              <a:cs typeface="Inter Light" panose="02000503000000020004"/>
              <a:sym typeface="Inter Light" panose="02000503000000020004"/>
            </a:endParaRPr>
          </a:p>
          <a:p>
            <a:pPr marL="755650" lvl="1" indent="-377825" algn="just">
              <a:lnSpc>
                <a:spcPts val="4900"/>
              </a:lnSpc>
              <a:buFont typeface="Arial" panose="020B0604020202020204"/>
              <a:buChar char="•"/>
            </a:pPr>
            <a:r>
              <a:rPr lang="en-US" sz="3500" b="1" spc="-101">
                <a:solidFill>
                  <a:srgbClr val="AEF9FF"/>
                </a:solidFill>
                <a:latin typeface="Inter Bold" panose="020B0802030000000004"/>
                <a:ea typeface="Inter Bold" panose="020B0802030000000004"/>
                <a:cs typeface="Inter Bold" panose="020B0802030000000004"/>
                <a:sym typeface="Inter Bold" panose="020B0802030000000004"/>
              </a:rPr>
              <a:t>Health Insurance Portability and Accountability Act (HIPAA): </a:t>
            </a:r>
            <a:r>
              <a:rPr lang="en-US" sz="3500" spc="-101">
                <a:solidFill>
                  <a:srgbClr val="AEF9FF"/>
                </a:solidFill>
                <a:latin typeface="Inter Light" panose="02000503000000020004"/>
                <a:ea typeface="Inter Light" panose="02000503000000020004"/>
                <a:cs typeface="Inter Light" panose="02000503000000020004"/>
                <a:sym typeface="Inter Light" panose="02000503000000020004"/>
              </a:rPr>
              <a:t>Protects sensitive medical and health-related information.</a:t>
            </a:r>
            <a:endParaRPr lang="en-US" sz="3500" spc="-101">
              <a:solidFill>
                <a:srgbClr val="AEF9FF"/>
              </a:solidFill>
              <a:latin typeface="Inter Light" panose="02000503000000020004"/>
              <a:ea typeface="Inter Light" panose="02000503000000020004"/>
              <a:cs typeface="Inter Light" panose="02000503000000020004"/>
              <a:sym typeface="Inter Light" panose="02000503000000020004"/>
            </a:endParaRPr>
          </a:p>
          <a:p>
            <a:pPr algn="just">
              <a:lnSpc>
                <a:spcPts val="4900"/>
              </a:lnSpc>
            </a:pPr>
            <a:r>
              <a:rPr lang="en-US" sz="3500" spc="-101">
                <a:solidFill>
                  <a:srgbClr val="AEF9FF"/>
                </a:solidFill>
                <a:latin typeface="Inter Light" panose="02000503000000020004"/>
                <a:ea typeface="Inter Light" panose="02000503000000020004"/>
                <a:cs typeface="Inter Light" panose="02000503000000020004"/>
                <a:sym typeface="Inter Light" panose="02000503000000020004"/>
              </a:rPr>
              <a:t>      </a:t>
            </a:r>
            <a:r>
              <a:rPr lang="en-US" sz="3500" spc="-101">
                <a:solidFill>
                  <a:srgbClr val="AEF9FF"/>
                </a:solidFill>
                <a:latin typeface="Inter Light" panose="02000503000000020004"/>
                <a:ea typeface="Inter Light" panose="02000503000000020004"/>
                <a:cs typeface="Inter Light" panose="02000503000000020004"/>
                <a:sym typeface="Inter Light" panose="02000503000000020004"/>
              </a:rPr>
              <a:t>Organizations that violate these laws may face severe penalties.</a:t>
            </a:r>
            <a:endParaRPr lang="en-US" sz="3500" spc="-101">
              <a:solidFill>
                <a:srgbClr val="AEF9FF"/>
              </a:solidFill>
              <a:latin typeface="Inter Light" panose="02000503000000020004"/>
              <a:ea typeface="Inter Light" panose="02000503000000020004"/>
              <a:cs typeface="Inter Light" panose="02000503000000020004"/>
              <a:sym typeface="Inter Light" panose="02000503000000020004"/>
            </a:endParaRPr>
          </a:p>
          <a:p>
            <a:pPr algn="just">
              <a:lnSpc>
                <a:spcPts val="4900"/>
              </a:lnSpc>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229600"/>
            <a:chOff x="0" y="0"/>
            <a:chExt cx="4274726" cy="2167467"/>
          </a:xfrm>
        </p:grpSpPr>
        <p:sp>
          <p:nvSpPr>
            <p:cNvPr id="5" name="Freeform 5"/>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05567"/>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2266592" y="2044258"/>
            <a:ext cx="13754815" cy="787781"/>
          </a:xfrm>
          <a:prstGeom prst="rect">
            <a:avLst/>
          </a:prstGeom>
        </p:spPr>
        <p:txBody>
          <a:bodyPr lIns="0" tIns="0" rIns="0" bIns="0" rtlCol="0" anchor="t">
            <a:spAutoFit/>
          </a:bodyPr>
          <a:lstStyle/>
          <a:p>
            <a:pPr algn="ctr">
              <a:lnSpc>
                <a:spcPts val="5915"/>
              </a:lnSpc>
            </a:pPr>
            <a:r>
              <a:rPr lang="en-US" sz="6100" spc="-176">
                <a:solidFill>
                  <a:srgbClr val="AEF9FF"/>
                </a:solidFill>
                <a:latin typeface="Anton" panose="00000500000000000000"/>
                <a:ea typeface="Anton" panose="00000500000000000000"/>
                <a:cs typeface="Anton" panose="00000500000000000000"/>
                <a:sym typeface="Anton" panose="00000500000000000000"/>
              </a:rPr>
              <a:t>LEGAL CONSEQUENCES OF PRIAVCY VIOLATIONS</a:t>
            </a:r>
            <a:endParaRPr lang="en-US" sz="6100" spc="-176">
              <a:solidFill>
                <a:srgbClr val="AEF9FF"/>
              </a:solidFill>
              <a:latin typeface="Anton" panose="00000500000000000000"/>
              <a:ea typeface="Anton" panose="00000500000000000000"/>
              <a:cs typeface="Anton" panose="00000500000000000000"/>
              <a:sym typeface="Anton" panose="00000500000000000000"/>
            </a:endParaRPr>
          </a:p>
        </p:txBody>
      </p:sp>
      <p:sp>
        <p:nvSpPr>
          <p:cNvPr id="8" name="TextBox 8"/>
          <p:cNvSpPr txBox="1"/>
          <p:nvPr/>
        </p:nvSpPr>
        <p:spPr>
          <a:xfrm>
            <a:off x="2266592" y="3199744"/>
            <a:ext cx="13911635" cy="6581140"/>
          </a:xfrm>
          <a:prstGeom prst="rect">
            <a:avLst/>
          </a:prstGeom>
        </p:spPr>
        <p:txBody>
          <a:bodyPr lIns="0" tIns="0" rIns="0" bIns="0" rtlCol="0" anchor="t">
            <a:spAutoFit/>
          </a:bodyPr>
          <a:lstStyle/>
          <a:p>
            <a:pPr marL="734060" lvl="1" indent="-367030" algn="just">
              <a:lnSpc>
                <a:spcPts val="4760"/>
              </a:lnSpc>
              <a:buFont typeface="Arial" panose="020B0604020202020204"/>
              <a:buChar char="•"/>
            </a:pP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Fin</a:t>
            </a: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ancial Penalties:  </a:t>
            </a:r>
            <a:r>
              <a:rPr lang="en-US" sz="3400" spc="-98">
                <a:solidFill>
                  <a:srgbClr val="AEF9FF"/>
                </a:solidFill>
                <a:latin typeface="Inter" panose="020B0502030000000004"/>
                <a:ea typeface="Inter" panose="020B0502030000000004"/>
                <a:cs typeface="Inter" panose="020B0502030000000004"/>
                <a:sym typeface="Inter" panose="020B0502030000000004"/>
              </a:rPr>
              <a:t>Governments may impose larg</a:t>
            </a:r>
            <a:r>
              <a:rPr lang="en-US" sz="3400" spc="-98">
                <a:solidFill>
                  <a:srgbClr val="AEF9FF"/>
                </a:solidFill>
                <a:latin typeface="Inter" panose="020B0502030000000004"/>
                <a:ea typeface="Inter" panose="020B0502030000000004"/>
                <a:cs typeface="Inter" panose="020B0502030000000004"/>
                <a:sym typeface="Inter" panose="020B0502030000000004"/>
              </a:rPr>
              <a:t>e fines on organizations.</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marL="734060" lvl="1" indent="-367030" algn="just">
              <a:lnSpc>
                <a:spcPts val="4760"/>
              </a:lnSpc>
              <a:buFont typeface="Arial" panose="020B0604020202020204"/>
              <a:buChar char="•"/>
            </a:pP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Lawsuits:</a:t>
            </a:r>
            <a:r>
              <a:rPr lang="en-US" sz="3400" spc="-98">
                <a:solidFill>
                  <a:srgbClr val="AEF9FF"/>
                </a:solidFill>
                <a:latin typeface="Inter" panose="020B0502030000000004"/>
                <a:ea typeface="Inter" panose="020B0502030000000004"/>
                <a:cs typeface="Inter" panose="020B0502030000000004"/>
                <a:sym typeface="Inter" panose="020B0502030000000004"/>
              </a:rPr>
              <a:t> Affected users can seek compensation through legal action.</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marL="734060" lvl="1" indent="-367030" algn="just">
              <a:lnSpc>
                <a:spcPts val="4760"/>
              </a:lnSpc>
              <a:buFont typeface="Arial" panose="020B0604020202020204"/>
              <a:buChar char="•"/>
            </a:pP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Reput</a:t>
            </a: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ation Damage: </a:t>
            </a:r>
            <a:r>
              <a:rPr lang="en-US" sz="3400" spc="-98">
                <a:solidFill>
                  <a:srgbClr val="AEF9FF"/>
                </a:solidFill>
                <a:latin typeface="Inter" panose="020B0502030000000004"/>
                <a:ea typeface="Inter" panose="020B0502030000000004"/>
                <a:cs typeface="Inter" panose="020B0502030000000004"/>
                <a:sym typeface="Inter" panose="020B0502030000000004"/>
              </a:rPr>
              <a:t>L</a:t>
            </a:r>
            <a:r>
              <a:rPr lang="en-US" sz="3400" spc="-98">
                <a:solidFill>
                  <a:srgbClr val="AEF9FF"/>
                </a:solidFill>
                <a:latin typeface="Inter" panose="020B0502030000000004"/>
                <a:ea typeface="Inter" panose="020B0502030000000004"/>
                <a:cs typeface="Inter" panose="020B0502030000000004"/>
                <a:sym typeface="Inter" panose="020B0502030000000004"/>
              </a:rPr>
              <a:t>oss of public trust can lead to reduced customers and revenue.</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marL="734060" lvl="1" indent="-367030" algn="just">
              <a:lnSpc>
                <a:spcPts val="4760"/>
              </a:lnSpc>
              <a:buFont typeface="Arial" panose="020B0604020202020204"/>
              <a:buChar char="•"/>
            </a:pP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R</a:t>
            </a: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egulatory Investigations: </a:t>
            </a:r>
            <a:r>
              <a:rPr lang="en-US" sz="3400" spc="-98">
                <a:solidFill>
                  <a:srgbClr val="AEF9FF"/>
                </a:solidFill>
                <a:latin typeface="Inter" panose="020B0502030000000004"/>
                <a:ea typeface="Inter" panose="020B0502030000000004"/>
                <a:cs typeface="Inter" panose="020B0502030000000004"/>
                <a:sym typeface="Inter" panose="020B0502030000000004"/>
              </a:rPr>
              <a:t>Companies may be audited and monitored by g</a:t>
            </a:r>
            <a:r>
              <a:rPr lang="en-US" sz="3400" spc="-98">
                <a:solidFill>
                  <a:srgbClr val="AEF9FF"/>
                </a:solidFill>
                <a:latin typeface="Inter" panose="020B0502030000000004"/>
                <a:ea typeface="Inter" panose="020B0502030000000004"/>
                <a:cs typeface="Inter" panose="020B0502030000000004"/>
                <a:sym typeface="Inter" panose="020B0502030000000004"/>
              </a:rPr>
              <a:t>overnment agencies.</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marL="734060" lvl="1" indent="-367030" algn="just">
              <a:lnSpc>
                <a:spcPts val="4760"/>
              </a:lnSpc>
              <a:buFont typeface="Arial" panose="020B0604020202020204"/>
              <a:buChar char="•"/>
            </a:pP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Business Disruption: </a:t>
            </a:r>
            <a:r>
              <a:rPr lang="en-US" sz="3400" spc="-98">
                <a:solidFill>
                  <a:srgbClr val="AEF9FF"/>
                </a:solidFill>
                <a:latin typeface="Inter" panose="020B0502030000000004"/>
                <a:ea typeface="Inter" panose="020B0502030000000004"/>
                <a:cs typeface="Inter" panose="020B0502030000000004"/>
                <a:sym typeface="Inter" panose="020B0502030000000004"/>
              </a:rPr>
              <a:t>Privacy incidents often require costly recovery and compliance efforts.</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algn="just">
              <a:lnSpc>
                <a:spcPts val="4760"/>
              </a:lnSpc>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229600"/>
            <a:chOff x="0" y="0"/>
            <a:chExt cx="4274726" cy="2167467"/>
          </a:xfrm>
        </p:grpSpPr>
        <p:sp>
          <p:nvSpPr>
            <p:cNvPr id="5" name="Freeform 5"/>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05567"/>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2266592" y="2044258"/>
            <a:ext cx="13754815" cy="787781"/>
          </a:xfrm>
          <a:prstGeom prst="rect">
            <a:avLst/>
          </a:prstGeom>
        </p:spPr>
        <p:txBody>
          <a:bodyPr lIns="0" tIns="0" rIns="0" bIns="0" rtlCol="0" anchor="t">
            <a:spAutoFit/>
          </a:bodyPr>
          <a:lstStyle/>
          <a:p>
            <a:pPr algn="ctr">
              <a:lnSpc>
                <a:spcPts val="5915"/>
              </a:lnSpc>
            </a:pPr>
            <a:r>
              <a:rPr lang="en-US" sz="6100" spc="-176">
                <a:solidFill>
                  <a:srgbClr val="AEF9FF"/>
                </a:solidFill>
                <a:latin typeface="Anton" panose="00000500000000000000"/>
                <a:ea typeface="Anton" panose="00000500000000000000"/>
                <a:cs typeface="Anton" panose="00000500000000000000"/>
                <a:sym typeface="Anton" panose="00000500000000000000"/>
              </a:rPr>
              <a:t>REAL-WORLD CASES</a:t>
            </a:r>
            <a:endParaRPr lang="en-US" sz="6100" spc="-176">
              <a:solidFill>
                <a:srgbClr val="AEF9FF"/>
              </a:solidFill>
              <a:latin typeface="Anton" panose="00000500000000000000"/>
              <a:ea typeface="Anton" panose="00000500000000000000"/>
              <a:cs typeface="Anton" panose="00000500000000000000"/>
              <a:sym typeface="Anton" panose="00000500000000000000"/>
            </a:endParaRPr>
          </a:p>
        </p:txBody>
      </p:sp>
      <p:sp>
        <p:nvSpPr>
          <p:cNvPr id="8" name="TextBox 8"/>
          <p:cNvSpPr txBox="1"/>
          <p:nvPr/>
        </p:nvSpPr>
        <p:spPr>
          <a:xfrm>
            <a:off x="2109773" y="2982434"/>
            <a:ext cx="13911635" cy="7181215"/>
          </a:xfrm>
          <a:prstGeom prst="rect">
            <a:avLst/>
          </a:prstGeom>
        </p:spPr>
        <p:txBody>
          <a:bodyPr lIns="0" tIns="0" rIns="0" bIns="0" rtlCol="0" anchor="t">
            <a:spAutoFit/>
          </a:bodyPr>
          <a:lstStyle/>
          <a:p>
            <a:pPr marL="734060" lvl="1" indent="-367030" algn="just">
              <a:lnSpc>
                <a:spcPts val="4760"/>
              </a:lnSpc>
              <a:buFont typeface="Arial" panose="020B0604020202020204"/>
              <a:buChar char="•"/>
            </a:pP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Facebook–Cambridge An</a:t>
            </a: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alytica data scandal: </a:t>
            </a:r>
            <a:r>
              <a:rPr lang="en-US" sz="3400" spc="-98">
                <a:solidFill>
                  <a:srgbClr val="AEF9FF"/>
                </a:solidFill>
                <a:latin typeface="Inter" panose="020B0502030000000004"/>
                <a:ea typeface="Inter" panose="020B0502030000000004"/>
                <a:cs typeface="Inter" panose="020B0502030000000004"/>
                <a:sym typeface="Inter" panose="020B0502030000000004"/>
              </a:rPr>
              <a:t>Personal information from millions of users was accessed without proper consent and used for political advertising. The incident raised global concerns about data privacy and resulted in investigations and financial penalties.</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marL="734060" lvl="1" indent="-367030" algn="just">
              <a:lnSpc>
                <a:spcPts val="4760"/>
              </a:lnSpc>
              <a:buFont typeface="Arial" panose="020B0604020202020204"/>
              <a:buChar char="•"/>
            </a:pP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Google</a:t>
            </a:r>
            <a:r>
              <a:rPr lang="en-US" sz="3400" spc="-98">
                <a:solidFill>
                  <a:srgbClr val="AEF9FF"/>
                </a:solidFill>
                <a:latin typeface="Inter" panose="020B0502030000000004"/>
                <a:ea typeface="Inter" panose="020B0502030000000004"/>
                <a:cs typeface="Inter" panose="020B0502030000000004"/>
                <a:sym typeface="Inter" panose="020B0502030000000004"/>
              </a:rPr>
              <a:t> has been fined repeatedly in Europe for illegal tracking and data collection. </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marL="734060" lvl="1" indent="-367030" algn="just">
              <a:lnSpc>
                <a:spcPts val="4760"/>
              </a:lnSpc>
              <a:buFont typeface="Arial" panose="020B0604020202020204"/>
              <a:buChar char="•"/>
            </a:pPr>
            <a:r>
              <a:rPr lang="en-US" sz="3400" b="1" spc="-98">
                <a:solidFill>
                  <a:srgbClr val="AEF9FF"/>
                </a:solidFill>
                <a:latin typeface="Inter Bold" panose="020B0802030000000004"/>
                <a:ea typeface="Inter Bold" panose="020B0802030000000004"/>
                <a:cs typeface="Inter Bold" panose="020B0802030000000004"/>
                <a:sym typeface="Inter Bold" panose="020B0802030000000004"/>
              </a:rPr>
              <a:t>Uber:</a:t>
            </a:r>
            <a:r>
              <a:rPr lang="en-US" sz="3400" spc="-98">
                <a:solidFill>
                  <a:srgbClr val="AEF9FF"/>
                </a:solidFill>
                <a:latin typeface="Inter" panose="020B0502030000000004"/>
                <a:ea typeface="Inter" panose="020B0502030000000004"/>
                <a:cs typeface="Inter" panose="020B0502030000000004"/>
                <a:sym typeface="Inter" panose="020B0502030000000004"/>
              </a:rPr>
              <a:t> A major data breach affected millions of users, and the company was criticized for delaying disclosure of the incident. Legal actions and fines followed.</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algn="just">
              <a:lnSpc>
                <a:spcPts val="4760"/>
              </a:lnSpc>
            </a:pPr>
          </a:p>
          <a:p>
            <a:pPr algn="just">
              <a:lnSpc>
                <a:spcPts val="4760"/>
              </a:lnSpc>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229600"/>
            <a:chOff x="0" y="0"/>
            <a:chExt cx="4274726" cy="2167467"/>
          </a:xfrm>
        </p:grpSpPr>
        <p:sp>
          <p:nvSpPr>
            <p:cNvPr id="5" name="Freeform 5"/>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05567"/>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2266592" y="2044258"/>
            <a:ext cx="13754815" cy="787781"/>
          </a:xfrm>
          <a:prstGeom prst="rect">
            <a:avLst/>
          </a:prstGeom>
        </p:spPr>
        <p:txBody>
          <a:bodyPr lIns="0" tIns="0" rIns="0" bIns="0" rtlCol="0" anchor="t">
            <a:spAutoFit/>
          </a:bodyPr>
          <a:lstStyle/>
          <a:p>
            <a:pPr algn="ctr">
              <a:lnSpc>
                <a:spcPts val="5915"/>
              </a:lnSpc>
            </a:pPr>
            <a:r>
              <a:rPr lang="en-US" sz="6100" spc="-176">
                <a:solidFill>
                  <a:srgbClr val="AEF9FF"/>
                </a:solidFill>
                <a:latin typeface="Anton" panose="00000500000000000000"/>
                <a:ea typeface="Anton" panose="00000500000000000000"/>
                <a:cs typeface="Anton" panose="00000500000000000000"/>
                <a:sym typeface="Anton" panose="00000500000000000000"/>
              </a:rPr>
              <a:t>RIGHTS OF USERS</a:t>
            </a:r>
            <a:endParaRPr lang="en-US" sz="6100" spc="-176">
              <a:solidFill>
                <a:srgbClr val="AEF9FF"/>
              </a:solidFill>
              <a:latin typeface="Anton" panose="00000500000000000000"/>
              <a:ea typeface="Anton" panose="00000500000000000000"/>
              <a:cs typeface="Anton" panose="00000500000000000000"/>
              <a:sym typeface="Anton" panose="00000500000000000000"/>
            </a:endParaRPr>
          </a:p>
        </p:txBody>
      </p:sp>
      <p:sp>
        <p:nvSpPr>
          <p:cNvPr id="8" name="TextBox 8"/>
          <p:cNvSpPr txBox="1"/>
          <p:nvPr/>
        </p:nvSpPr>
        <p:spPr>
          <a:xfrm>
            <a:off x="2109773" y="2982434"/>
            <a:ext cx="13911635" cy="5683250"/>
          </a:xfrm>
          <a:prstGeom prst="rect">
            <a:avLst/>
          </a:prstGeom>
        </p:spPr>
        <p:txBody>
          <a:bodyPr lIns="0" tIns="0" rIns="0" bIns="0" rtlCol="0" anchor="t">
            <a:spAutoFit/>
          </a:bodyPr>
          <a:lstStyle/>
          <a:p>
            <a:pPr algn="just">
              <a:lnSpc>
                <a:spcPts val="4760"/>
              </a:lnSpc>
            </a:pPr>
            <a:r>
              <a:rPr lang="en-US" sz="3400" spc="-98">
                <a:solidFill>
                  <a:srgbClr val="AEF9FF"/>
                </a:solidFill>
                <a:latin typeface="Inter" panose="020B0502030000000004"/>
                <a:ea typeface="Inter" panose="020B0502030000000004"/>
                <a:cs typeface="Inter" panose="020B0502030000000004"/>
                <a:sym typeface="Inter" panose="020B0502030000000004"/>
              </a:rPr>
              <a:t>Priv</a:t>
            </a:r>
            <a:r>
              <a:rPr lang="en-US" sz="3400" spc="-98">
                <a:solidFill>
                  <a:srgbClr val="AEF9FF"/>
                </a:solidFill>
                <a:latin typeface="Inter" panose="020B0502030000000004"/>
                <a:ea typeface="Inter" panose="020B0502030000000004"/>
                <a:cs typeface="Inter" panose="020B0502030000000004"/>
                <a:sym typeface="Inter" panose="020B0502030000000004"/>
              </a:rPr>
              <a:t>acy laws grant us</a:t>
            </a:r>
            <a:r>
              <a:rPr lang="en-US" sz="3400" spc="-98">
                <a:solidFill>
                  <a:srgbClr val="AEF9FF"/>
                </a:solidFill>
                <a:latin typeface="Inter" panose="020B0502030000000004"/>
                <a:ea typeface="Inter" panose="020B0502030000000004"/>
                <a:cs typeface="Inter" panose="020B0502030000000004"/>
                <a:sym typeface="Inter" panose="020B0502030000000004"/>
              </a:rPr>
              <a:t>ers important rights over their own data. </a:t>
            </a:r>
            <a:endParaRPr lang="en-US" sz="3400" spc="-98">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l">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The right to access allows users to request what data a company holds about them. </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l">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The right to correction lets users fix inaccurate information. </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l">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The right to deletion (also called the "right to be forgotten") allows users to request their data be permanently removed. </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l">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Users also have the right to opt out of data selling or targeted advertising. Companies are legally required to be transparent and obtain proper consent before collecting data.</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229600"/>
            <a:chOff x="0" y="0"/>
            <a:chExt cx="4274726" cy="2167467"/>
          </a:xfrm>
        </p:grpSpPr>
        <p:sp>
          <p:nvSpPr>
            <p:cNvPr id="5" name="Freeform 5"/>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05567"/>
            </a:xfrm>
            <a:prstGeom prst="rect">
              <a:avLst/>
            </a:prstGeom>
          </p:spPr>
          <p:txBody>
            <a:bodyPr lIns="50800" tIns="50800" rIns="50800" bIns="50800" rtlCol="0" anchor="ctr"/>
            <a:lstStyle/>
            <a:p>
              <a:pPr algn="ctr">
                <a:lnSpc>
                  <a:spcPts val="2940"/>
                </a:lnSpc>
              </a:pPr>
            </a:p>
          </p:txBody>
        </p:sp>
      </p:grpSp>
      <p:grpSp>
        <p:nvGrpSpPr>
          <p:cNvPr id="7" name="Group 7"/>
          <p:cNvGrpSpPr/>
          <p:nvPr/>
        </p:nvGrpSpPr>
        <p:grpSpPr>
          <a:xfrm rot="0">
            <a:off x="12621845" y="1028700"/>
            <a:ext cx="4637455" cy="8229600"/>
            <a:chOff x="0" y="0"/>
            <a:chExt cx="718463" cy="1274980"/>
          </a:xfrm>
        </p:grpSpPr>
        <p:sp>
          <p:nvSpPr>
            <p:cNvPr id="8" name="Freeform 8"/>
            <p:cNvSpPr/>
            <p:nvPr/>
          </p:nvSpPr>
          <p:spPr>
            <a:xfrm>
              <a:off x="0" y="0"/>
              <a:ext cx="718463" cy="1274980"/>
            </a:xfrm>
            <a:custGeom>
              <a:avLst/>
              <a:gdLst/>
              <a:ahLst/>
              <a:cxnLst/>
              <a:rect l="l" t="t" r="r" b="b"/>
              <a:pathLst>
                <a:path w="718463" h="1274980">
                  <a:moveTo>
                    <a:pt x="0" y="0"/>
                  </a:moveTo>
                  <a:lnTo>
                    <a:pt x="718463" y="0"/>
                  </a:lnTo>
                  <a:lnTo>
                    <a:pt x="718463" y="1274980"/>
                  </a:lnTo>
                  <a:lnTo>
                    <a:pt x="0" y="1274980"/>
                  </a:lnTo>
                  <a:close/>
                </a:path>
              </a:pathLst>
            </a:custGeom>
            <a:blipFill>
              <a:blip r:embed="rId3"/>
              <a:stretch>
                <a:fillRect l="-114645" r="-114645" b="-23860"/>
              </a:stretch>
            </a:blipFill>
            <a:ln w="19050" cap="sq">
              <a:solidFill>
                <a:srgbClr val="AEF9FF"/>
              </a:solidFill>
              <a:prstDash val="solid"/>
              <a:miter/>
            </a:ln>
          </p:spPr>
        </p:sp>
      </p:grpSp>
      <p:sp>
        <p:nvSpPr>
          <p:cNvPr id="9" name="TextBox 9"/>
          <p:cNvSpPr txBox="1"/>
          <p:nvPr/>
        </p:nvSpPr>
        <p:spPr>
          <a:xfrm>
            <a:off x="2047248" y="1985364"/>
            <a:ext cx="9805719" cy="1656715"/>
          </a:xfrm>
          <a:prstGeom prst="rect">
            <a:avLst/>
          </a:prstGeom>
        </p:spPr>
        <p:txBody>
          <a:bodyPr lIns="0" tIns="0" rIns="0" bIns="0" rtlCol="0" anchor="t">
            <a:spAutoFit/>
          </a:bodyPr>
          <a:lstStyle/>
          <a:p>
            <a:pPr algn="ctr">
              <a:lnSpc>
                <a:spcPts val="6305"/>
              </a:lnSpc>
            </a:pPr>
            <a:r>
              <a:rPr lang="en-US" sz="6500" spc="-188">
                <a:solidFill>
                  <a:srgbClr val="AEF9FF"/>
                </a:solidFill>
                <a:latin typeface="Anton" panose="00000500000000000000"/>
                <a:ea typeface="Anton" panose="00000500000000000000"/>
                <a:cs typeface="Anton" panose="00000500000000000000"/>
                <a:sym typeface="Anton" panose="00000500000000000000"/>
              </a:rPr>
              <a:t>RESPONSIBILITIES OF SOFTWARE DEVELOPERS</a:t>
            </a:r>
            <a:endParaRPr lang="en-US" sz="6500" spc="-188">
              <a:solidFill>
                <a:srgbClr val="AEF9FF"/>
              </a:solidFill>
              <a:latin typeface="Anton" panose="00000500000000000000"/>
              <a:ea typeface="Anton" panose="00000500000000000000"/>
              <a:cs typeface="Anton" panose="00000500000000000000"/>
              <a:sym typeface="Anton" panose="00000500000000000000"/>
            </a:endParaRPr>
          </a:p>
        </p:txBody>
      </p:sp>
      <p:sp>
        <p:nvSpPr>
          <p:cNvPr id="10" name="TextBox 10"/>
          <p:cNvSpPr txBox="1"/>
          <p:nvPr/>
        </p:nvSpPr>
        <p:spPr>
          <a:xfrm>
            <a:off x="1600208" y="3877289"/>
            <a:ext cx="9670286" cy="5380990"/>
          </a:xfrm>
          <a:prstGeom prst="rect">
            <a:avLst/>
          </a:prstGeom>
        </p:spPr>
        <p:txBody>
          <a:bodyPr lIns="0" tIns="0" rIns="0" bIns="0" rtlCol="0" anchor="t">
            <a:spAutoFit/>
          </a:bodyPr>
          <a:lstStyle/>
          <a:p>
            <a:pPr algn="just">
              <a:lnSpc>
                <a:spcPts val="4760"/>
              </a:lnSpc>
              <a:spcBef>
                <a:spcPct val="0"/>
              </a:spcBef>
            </a:pPr>
            <a:r>
              <a:rPr lang="en-US" sz="3400" spc="-98">
                <a:solidFill>
                  <a:srgbClr val="AEF9FF"/>
                </a:solidFill>
                <a:latin typeface="Inter Light" panose="02000503000000020004"/>
                <a:ea typeface="Inter Light" panose="02000503000000020004"/>
                <a:cs typeface="Inter Light" panose="02000503000000020004"/>
                <a:sym typeface="Inter Light" panose="02000503000000020004"/>
              </a:rPr>
              <a:t>Developers play a key</a:t>
            </a:r>
            <a:r>
              <a:rPr lang="en-US" sz="3400" spc="-98">
                <a:solidFill>
                  <a:srgbClr val="AEF9FF"/>
                </a:solidFill>
                <a:latin typeface="Inter Light" panose="02000503000000020004"/>
                <a:ea typeface="Inter Light" panose="02000503000000020004"/>
                <a:cs typeface="Inter Light" panose="02000503000000020004"/>
                <a:sym typeface="Inter Light" panose="02000503000000020004"/>
              </a:rPr>
              <a:t> role in protecting privacy by:</a:t>
            </a:r>
            <a:endParaRPr lang="en-US" sz="3400" spc="-98">
              <a:solidFill>
                <a:srgbClr val="AEF9FF"/>
              </a:solidFill>
              <a:latin typeface="Inter Light" panose="02000503000000020004"/>
              <a:ea typeface="Inter Light" panose="02000503000000020004"/>
              <a:cs typeface="Inter Light" panose="02000503000000020004"/>
              <a:sym typeface="Inter Light" panose="02000503000000020004"/>
            </a:endParaRPr>
          </a:p>
          <a:p>
            <a:pPr marL="734060" lvl="1" indent="-367030" algn="just">
              <a:lnSpc>
                <a:spcPts val="4760"/>
              </a:lnSpc>
              <a:spcBef>
                <a:spcPct val="0"/>
              </a:spcBef>
              <a:buFont typeface="Arial" panose="020B0604020202020204"/>
              <a:buChar char="•"/>
            </a:pPr>
            <a:r>
              <a:rPr lang="en-US" sz="3400" spc="-98">
                <a:solidFill>
                  <a:srgbClr val="AEF9FF"/>
                </a:solidFill>
                <a:latin typeface="Inter Light" panose="02000503000000020004"/>
                <a:ea typeface="Inter Light" panose="02000503000000020004"/>
                <a:cs typeface="Inter Light" panose="02000503000000020004"/>
                <a:sym typeface="Inter Light" panose="02000503000000020004"/>
              </a:rPr>
              <a:t>Implementing secure coding practices.</a:t>
            </a:r>
            <a:endParaRPr lang="en-US" sz="3400" spc="-98">
              <a:solidFill>
                <a:srgbClr val="AEF9FF"/>
              </a:solidFill>
              <a:latin typeface="Inter Light" panose="02000503000000020004"/>
              <a:ea typeface="Inter Light" panose="02000503000000020004"/>
              <a:cs typeface="Inter Light" panose="02000503000000020004"/>
              <a:sym typeface="Inter Light" panose="02000503000000020004"/>
            </a:endParaRPr>
          </a:p>
          <a:p>
            <a:pPr marL="734060" lvl="1" indent="-367030" algn="just">
              <a:lnSpc>
                <a:spcPts val="4760"/>
              </a:lnSpc>
              <a:spcBef>
                <a:spcPct val="0"/>
              </a:spcBef>
              <a:buFont typeface="Arial" panose="020B0604020202020204"/>
              <a:buChar char="•"/>
            </a:pPr>
            <a:r>
              <a:rPr lang="en-US" sz="3400" spc="-98">
                <a:solidFill>
                  <a:srgbClr val="AEF9FF"/>
                </a:solidFill>
                <a:latin typeface="Inter Light" panose="02000503000000020004"/>
                <a:ea typeface="Inter Light" panose="02000503000000020004"/>
                <a:cs typeface="Inter Light" panose="02000503000000020004"/>
                <a:sym typeface="Inter Light" panose="02000503000000020004"/>
              </a:rPr>
              <a:t>Using encryption to protect data.</a:t>
            </a:r>
            <a:endParaRPr lang="en-US" sz="3400" spc="-98">
              <a:solidFill>
                <a:srgbClr val="AEF9FF"/>
              </a:solidFill>
              <a:latin typeface="Inter Light" panose="02000503000000020004"/>
              <a:ea typeface="Inter Light" panose="02000503000000020004"/>
              <a:cs typeface="Inter Light" panose="02000503000000020004"/>
              <a:sym typeface="Inter Light" panose="02000503000000020004"/>
            </a:endParaRPr>
          </a:p>
          <a:p>
            <a:pPr marL="734060" lvl="1" indent="-367030" algn="just">
              <a:lnSpc>
                <a:spcPts val="4760"/>
              </a:lnSpc>
              <a:spcBef>
                <a:spcPct val="0"/>
              </a:spcBef>
              <a:buFont typeface="Arial" panose="020B0604020202020204"/>
              <a:buChar char="•"/>
            </a:pPr>
            <a:r>
              <a:rPr lang="en-US" sz="3400" spc="-98">
                <a:solidFill>
                  <a:srgbClr val="AEF9FF"/>
                </a:solidFill>
                <a:latin typeface="Inter Light" panose="02000503000000020004"/>
                <a:ea typeface="Inter Light" panose="02000503000000020004"/>
                <a:cs typeface="Inter Light" panose="02000503000000020004"/>
                <a:sym typeface="Inter Light" panose="02000503000000020004"/>
              </a:rPr>
              <a:t>Limiting access to sensitive information.</a:t>
            </a:r>
            <a:endParaRPr lang="en-US" sz="3400" spc="-98">
              <a:solidFill>
                <a:srgbClr val="AEF9FF"/>
              </a:solidFill>
              <a:latin typeface="Inter Light" panose="02000503000000020004"/>
              <a:ea typeface="Inter Light" panose="02000503000000020004"/>
              <a:cs typeface="Inter Light" panose="02000503000000020004"/>
              <a:sym typeface="Inter Light" panose="02000503000000020004"/>
            </a:endParaRPr>
          </a:p>
          <a:p>
            <a:pPr marL="734060" lvl="1" indent="-367030" algn="just">
              <a:lnSpc>
                <a:spcPts val="4760"/>
              </a:lnSpc>
              <a:spcBef>
                <a:spcPct val="0"/>
              </a:spcBef>
              <a:buFont typeface="Arial" panose="020B0604020202020204"/>
              <a:buChar char="•"/>
            </a:pPr>
            <a:r>
              <a:rPr lang="en-US" sz="3400" spc="-98">
                <a:solidFill>
                  <a:srgbClr val="AEF9FF"/>
                </a:solidFill>
                <a:latin typeface="Inter Light" panose="02000503000000020004"/>
                <a:ea typeface="Inter Light" panose="02000503000000020004"/>
                <a:cs typeface="Inter Light" panose="02000503000000020004"/>
                <a:sym typeface="Inter Light" panose="02000503000000020004"/>
              </a:rPr>
              <a:t>Regularly testing for vulnerabilities.</a:t>
            </a:r>
            <a:endParaRPr lang="en-US" sz="3400" spc="-98">
              <a:solidFill>
                <a:srgbClr val="AEF9FF"/>
              </a:solidFill>
              <a:latin typeface="Inter Light" panose="02000503000000020004"/>
              <a:ea typeface="Inter Light" panose="02000503000000020004"/>
              <a:cs typeface="Inter Light" panose="02000503000000020004"/>
              <a:sym typeface="Inter Light" panose="02000503000000020004"/>
            </a:endParaRPr>
          </a:p>
          <a:p>
            <a:pPr marL="734060" lvl="1" indent="-367030" algn="just">
              <a:lnSpc>
                <a:spcPts val="4760"/>
              </a:lnSpc>
              <a:spcBef>
                <a:spcPct val="0"/>
              </a:spcBef>
              <a:buFont typeface="Arial" panose="020B0604020202020204"/>
              <a:buChar char="•"/>
            </a:pPr>
            <a:r>
              <a:rPr lang="en-US" sz="3400" spc="-98">
                <a:solidFill>
                  <a:srgbClr val="AEF9FF"/>
                </a:solidFill>
                <a:latin typeface="Inter Light" panose="02000503000000020004"/>
                <a:ea typeface="Inter Light" panose="02000503000000020004"/>
                <a:cs typeface="Inter Light" panose="02000503000000020004"/>
                <a:sym typeface="Inter Light" panose="02000503000000020004"/>
              </a:rPr>
              <a:t>Following the principle of "Privacy by Design."</a:t>
            </a:r>
            <a:endParaRPr lang="en-US" sz="3400" spc="-98">
              <a:solidFill>
                <a:srgbClr val="AEF9FF"/>
              </a:solidFill>
              <a:latin typeface="Inter Light" panose="02000503000000020004"/>
              <a:ea typeface="Inter Light" panose="02000503000000020004"/>
              <a:cs typeface="Inter Light" panose="02000503000000020004"/>
              <a:sym typeface="Inter Light" panose="02000503000000020004"/>
            </a:endParaRPr>
          </a:p>
          <a:p>
            <a:pPr algn="just">
              <a:lnSpc>
                <a:spcPts val="4760"/>
              </a:lnSpc>
              <a:spcBef>
                <a:spcPct val="0"/>
              </a:spcBef>
            </a:pPr>
            <a:r>
              <a:rPr lang="en-US" sz="3400" spc="-98">
                <a:solidFill>
                  <a:srgbClr val="AEF9FF"/>
                </a:solidFill>
                <a:latin typeface="Inter Light" panose="02000503000000020004"/>
                <a:ea typeface="Inter Light" panose="02000503000000020004"/>
                <a:cs typeface="Inter Light" panose="02000503000000020004"/>
                <a:sym typeface="Inter Light" panose="02000503000000020004"/>
              </a:rPr>
              <a:t>Privacy should be considered throughout the software development lifecycle.</a:t>
            </a:r>
            <a:endParaRPr lang="en-US" sz="3400" spc="-98">
              <a:solidFill>
                <a:srgbClr val="AEF9FF"/>
              </a:solidFill>
              <a:latin typeface="Inter Light" panose="02000503000000020004"/>
              <a:ea typeface="Inter Light" panose="02000503000000020004"/>
              <a:cs typeface="Inter Light" panose="02000503000000020004"/>
              <a:sym typeface="Inter Light" panose="02000503000000020004"/>
            </a:endParaRPr>
          </a:p>
          <a:p>
            <a:pPr algn="just">
              <a:lnSpc>
                <a:spcPts val="4760"/>
              </a:lnSpc>
              <a:spcBef>
                <a:spcPct val="0"/>
              </a:spcBef>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EF9FF"/>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38225"/>
            <a:ext cx="16230600" cy="8229600"/>
            <a:chOff x="0" y="0"/>
            <a:chExt cx="4274726" cy="2167467"/>
          </a:xfrm>
        </p:grpSpPr>
        <p:sp>
          <p:nvSpPr>
            <p:cNvPr id="5" name="Freeform 5"/>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AEF9FF"/>
            </a:solidFill>
            <a:ln w="19050" cap="sq">
              <a:solidFill>
                <a:srgbClr val="063D86"/>
              </a:solidFill>
              <a:prstDash val="solid"/>
              <a:miter/>
            </a:ln>
          </p:spPr>
        </p:sp>
        <p:sp>
          <p:nvSpPr>
            <p:cNvPr id="6" name="TextBox 6"/>
            <p:cNvSpPr txBox="1"/>
            <p:nvPr/>
          </p:nvSpPr>
          <p:spPr>
            <a:xfrm>
              <a:off x="0" y="-38100"/>
              <a:ext cx="4274726" cy="2205567"/>
            </a:xfrm>
            <a:prstGeom prst="rect">
              <a:avLst/>
            </a:prstGeom>
          </p:spPr>
          <p:txBody>
            <a:bodyPr lIns="50800" tIns="50800" rIns="50800" bIns="50800" rtlCol="0" anchor="ctr"/>
            <a:lstStyle/>
            <a:p>
              <a:pPr algn="ctr">
                <a:lnSpc>
                  <a:spcPts val="2940"/>
                </a:lnSpc>
              </a:pPr>
            </a:p>
          </p:txBody>
        </p:sp>
      </p:grpSp>
      <p:sp>
        <p:nvSpPr>
          <p:cNvPr id="7" name="AutoShape 7"/>
          <p:cNvSpPr/>
          <p:nvPr/>
        </p:nvSpPr>
        <p:spPr>
          <a:xfrm>
            <a:off x="10294678" y="1038225"/>
            <a:ext cx="0" cy="8229600"/>
          </a:xfrm>
          <a:prstGeom prst="line">
            <a:avLst/>
          </a:prstGeom>
          <a:ln w="19050" cap="flat">
            <a:solidFill>
              <a:srgbClr val="063D86"/>
            </a:solidFill>
            <a:prstDash val="solid"/>
            <a:headEnd type="none" w="sm" len="sm"/>
            <a:tailEnd type="none" w="sm" len="sm"/>
          </a:ln>
        </p:spPr>
      </p:sp>
      <p:grpSp>
        <p:nvGrpSpPr>
          <p:cNvPr id="8" name="Group 8"/>
          <p:cNvGrpSpPr/>
          <p:nvPr/>
        </p:nvGrpSpPr>
        <p:grpSpPr>
          <a:xfrm rot="0">
            <a:off x="10294678" y="1038225"/>
            <a:ext cx="6964622" cy="8220075"/>
            <a:chOff x="0" y="0"/>
            <a:chExt cx="1457016" cy="1719660"/>
          </a:xfrm>
        </p:grpSpPr>
        <p:sp>
          <p:nvSpPr>
            <p:cNvPr id="9" name="Freeform 9"/>
            <p:cNvSpPr/>
            <p:nvPr/>
          </p:nvSpPr>
          <p:spPr>
            <a:xfrm>
              <a:off x="0" y="0"/>
              <a:ext cx="1457016" cy="1719660"/>
            </a:xfrm>
            <a:custGeom>
              <a:avLst/>
              <a:gdLst/>
              <a:ahLst/>
              <a:cxnLst/>
              <a:rect l="l" t="t" r="r" b="b"/>
              <a:pathLst>
                <a:path w="1457016" h="1719660">
                  <a:moveTo>
                    <a:pt x="0" y="0"/>
                  </a:moveTo>
                  <a:lnTo>
                    <a:pt x="1457016" y="0"/>
                  </a:lnTo>
                  <a:lnTo>
                    <a:pt x="1457016" y="1719660"/>
                  </a:lnTo>
                  <a:lnTo>
                    <a:pt x="0" y="1719660"/>
                  </a:lnTo>
                  <a:close/>
                </a:path>
              </a:pathLst>
            </a:custGeom>
            <a:blipFill>
              <a:blip r:embed="rId3"/>
              <a:stretch>
                <a:fillRect l="-38409" r="-38409"/>
              </a:stretch>
            </a:blipFill>
            <a:ln w="19050" cap="sq">
              <a:solidFill>
                <a:srgbClr val="AEF9FF"/>
              </a:solidFill>
              <a:prstDash val="solid"/>
              <a:miter/>
            </a:ln>
          </p:spPr>
        </p:sp>
      </p:grpSp>
      <p:sp>
        <p:nvSpPr>
          <p:cNvPr id="10" name="TextBox 10"/>
          <p:cNvSpPr txBox="1"/>
          <p:nvPr/>
        </p:nvSpPr>
        <p:spPr>
          <a:xfrm>
            <a:off x="1679246" y="1660823"/>
            <a:ext cx="8042009" cy="856615"/>
          </a:xfrm>
          <a:prstGeom prst="rect">
            <a:avLst/>
          </a:prstGeom>
        </p:spPr>
        <p:txBody>
          <a:bodyPr lIns="0" tIns="0" rIns="0" bIns="0" rtlCol="0" anchor="t">
            <a:spAutoFit/>
          </a:bodyPr>
          <a:lstStyle/>
          <a:p>
            <a:pPr algn="ctr">
              <a:lnSpc>
                <a:spcPts val="6305"/>
              </a:lnSpc>
            </a:pPr>
            <a:r>
              <a:rPr lang="en-US" sz="6500" spc="-188">
                <a:solidFill>
                  <a:srgbClr val="063D86"/>
                </a:solidFill>
                <a:latin typeface="Anton" panose="00000500000000000000"/>
                <a:ea typeface="Anton" panose="00000500000000000000"/>
                <a:cs typeface="Anton" panose="00000500000000000000"/>
                <a:sym typeface="Anton" panose="00000500000000000000"/>
              </a:rPr>
              <a:t>FUTURE CHALLENGES</a:t>
            </a:r>
            <a:endParaRPr lang="en-US" sz="6500" spc="-188">
              <a:solidFill>
                <a:srgbClr val="063D86"/>
              </a:solidFill>
              <a:latin typeface="Anton" panose="00000500000000000000"/>
              <a:ea typeface="Anton" panose="00000500000000000000"/>
              <a:cs typeface="Anton" panose="00000500000000000000"/>
              <a:sym typeface="Anton" panose="00000500000000000000"/>
            </a:endParaRPr>
          </a:p>
        </p:txBody>
      </p:sp>
      <p:sp>
        <p:nvSpPr>
          <p:cNvPr id="11" name="TextBox 11"/>
          <p:cNvSpPr txBox="1"/>
          <p:nvPr/>
        </p:nvSpPr>
        <p:spPr>
          <a:xfrm>
            <a:off x="1679246" y="2966236"/>
            <a:ext cx="8042009" cy="6155691"/>
          </a:xfrm>
          <a:prstGeom prst="rect">
            <a:avLst/>
          </a:prstGeom>
        </p:spPr>
        <p:txBody>
          <a:bodyPr lIns="0" tIns="0" rIns="0" bIns="0" rtlCol="0" anchor="t">
            <a:spAutoFit/>
          </a:bodyPr>
          <a:lstStyle/>
          <a:p>
            <a:pPr algn="just">
              <a:lnSpc>
                <a:spcPts val="4060"/>
              </a:lnSpc>
              <a:spcBef>
                <a:spcPct val="0"/>
              </a:spcBef>
            </a:pPr>
            <a:r>
              <a:rPr lang="en-US" sz="2900" b="1" spc="-84">
                <a:solidFill>
                  <a:srgbClr val="063D86"/>
                </a:solidFill>
                <a:latin typeface="Inter Bold" panose="020B0802030000000004"/>
                <a:ea typeface="Inter Bold" panose="020B0802030000000004"/>
                <a:cs typeface="Inter Bold" panose="020B0802030000000004"/>
                <a:sym typeface="Inter Bold" panose="020B0802030000000004"/>
              </a:rPr>
              <a:t>Artificial Intelligence</a:t>
            </a:r>
            <a:r>
              <a:rPr lang="en-US" sz="2900" b="1" spc="-84">
                <a:solidFill>
                  <a:srgbClr val="063D86"/>
                </a:solidFill>
                <a:latin typeface="Inter Bold" panose="020B0802030000000004"/>
                <a:ea typeface="Inter Bold" panose="020B0802030000000004"/>
                <a:cs typeface="Inter Bold" panose="020B0802030000000004"/>
                <a:sym typeface="Inter Bold" panose="020B0802030000000004"/>
              </a:rPr>
              <a:t> (AI)</a:t>
            </a:r>
            <a:endParaRPr lang="en-US" sz="2900" b="1" spc="-84">
              <a:solidFill>
                <a:srgbClr val="063D86"/>
              </a:solidFill>
              <a:latin typeface="Inter Bold" panose="020B0802030000000004"/>
              <a:ea typeface="Inter Bold" panose="020B0802030000000004"/>
              <a:cs typeface="Inter Bold" panose="020B0802030000000004"/>
              <a:sym typeface="Inter Bold" panose="020B0802030000000004"/>
            </a:endParaRPr>
          </a:p>
          <a:p>
            <a:pPr algn="just">
              <a:lnSpc>
                <a:spcPts val="4060"/>
              </a:lnSpc>
              <a:spcBef>
                <a:spcPct val="0"/>
              </a:spcBef>
            </a:pPr>
            <a:r>
              <a:rPr lang="en-US" sz="2900" spc="-84">
                <a:solidFill>
                  <a:srgbClr val="063D86"/>
                </a:solidFill>
                <a:latin typeface="Inter Light" panose="02000503000000020004"/>
                <a:ea typeface="Inter Light" panose="02000503000000020004"/>
                <a:cs typeface="Inter Light" panose="02000503000000020004"/>
                <a:sym typeface="Inter Light" panose="02000503000000020004"/>
              </a:rPr>
              <a:t>AI systems often require large amounts of personal data for training and decision-making.</a:t>
            </a:r>
            <a:endParaRPr lang="en-US" sz="2900" spc="-84">
              <a:solidFill>
                <a:srgbClr val="063D86"/>
              </a:solidFill>
              <a:latin typeface="Inter Light" panose="02000503000000020004"/>
              <a:ea typeface="Inter Light" panose="02000503000000020004"/>
              <a:cs typeface="Inter Light" panose="02000503000000020004"/>
              <a:sym typeface="Inter Light" panose="02000503000000020004"/>
            </a:endParaRPr>
          </a:p>
          <a:p>
            <a:pPr algn="just">
              <a:lnSpc>
                <a:spcPts val="4060"/>
              </a:lnSpc>
              <a:spcBef>
                <a:spcPct val="0"/>
              </a:spcBef>
            </a:pPr>
            <a:r>
              <a:rPr lang="en-US" sz="2900" b="1" spc="-84">
                <a:solidFill>
                  <a:srgbClr val="063D86"/>
                </a:solidFill>
                <a:latin typeface="Inter Bold" panose="020B0802030000000004"/>
                <a:ea typeface="Inter Bold" panose="020B0802030000000004"/>
                <a:cs typeface="Inter Bold" panose="020B0802030000000004"/>
                <a:sym typeface="Inter Bold" panose="020B0802030000000004"/>
              </a:rPr>
              <a:t>Internet of Things (IoT)</a:t>
            </a:r>
            <a:endParaRPr lang="en-US" sz="2900" b="1" spc="-84">
              <a:solidFill>
                <a:srgbClr val="063D86"/>
              </a:solidFill>
              <a:latin typeface="Inter Bold" panose="020B0802030000000004"/>
              <a:ea typeface="Inter Bold" panose="020B0802030000000004"/>
              <a:cs typeface="Inter Bold" panose="020B0802030000000004"/>
              <a:sym typeface="Inter Bold" panose="020B0802030000000004"/>
            </a:endParaRPr>
          </a:p>
          <a:p>
            <a:pPr algn="just">
              <a:lnSpc>
                <a:spcPts val="4060"/>
              </a:lnSpc>
              <a:spcBef>
                <a:spcPct val="0"/>
              </a:spcBef>
            </a:pPr>
            <a:r>
              <a:rPr lang="en-US" sz="2900" spc="-84">
                <a:solidFill>
                  <a:srgbClr val="063D86"/>
                </a:solidFill>
                <a:latin typeface="Inter Light" panose="02000503000000020004"/>
                <a:ea typeface="Inter Light" panose="02000503000000020004"/>
                <a:cs typeface="Inter Light" panose="02000503000000020004"/>
                <a:sym typeface="Inter Light" panose="02000503000000020004"/>
              </a:rPr>
              <a:t>Smart devices continuously collect user information.</a:t>
            </a:r>
            <a:endParaRPr lang="en-US" sz="2900" spc="-84">
              <a:solidFill>
                <a:srgbClr val="063D86"/>
              </a:solidFill>
              <a:latin typeface="Inter Light" panose="02000503000000020004"/>
              <a:ea typeface="Inter Light" panose="02000503000000020004"/>
              <a:cs typeface="Inter Light" panose="02000503000000020004"/>
              <a:sym typeface="Inter Light" panose="02000503000000020004"/>
            </a:endParaRPr>
          </a:p>
          <a:p>
            <a:pPr algn="just">
              <a:lnSpc>
                <a:spcPts val="4060"/>
              </a:lnSpc>
              <a:spcBef>
                <a:spcPct val="0"/>
              </a:spcBef>
            </a:pPr>
            <a:r>
              <a:rPr lang="en-US" sz="2900" b="1" spc="-84">
                <a:solidFill>
                  <a:srgbClr val="063D86"/>
                </a:solidFill>
                <a:latin typeface="Inter Bold" panose="020B0802030000000004"/>
                <a:ea typeface="Inter Bold" panose="020B0802030000000004"/>
                <a:cs typeface="Inter Bold" panose="020B0802030000000004"/>
                <a:sym typeface="Inter Bold" panose="020B0802030000000004"/>
              </a:rPr>
              <a:t>Facial Recognition</a:t>
            </a:r>
            <a:endParaRPr lang="en-US" sz="2900" b="1" spc="-84">
              <a:solidFill>
                <a:srgbClr val="063D86"/>
              </a:solidFill>
              <a:latin typeface="Inter Bold" panose="020B0802030000000004"/>
              <a:ea typeface="Inter Bold" panose="020B0802030000000004"/>
              <a:cs typeface="Inter Bold" panose="020B0802030000000004"/>
              <a:sym typeface="Inter Bold" panose="020B0802030000000004"/>
            </a:endParaRPr>
          </a:p>
          <a:p>
            <a:pPr algn="just">
              <a:lnSpc>
                <a:spcPts val="4060"/>
              </a:lnSpc>
              <a:spcBef>
                <a:spcPct val="0"/>
              </a:spcBef>
            </a:pPr>
            <a:r>
              <a:rPr lang="en-US" sz="2900" spc="-84">
                <a:solidFill>
                  <a:srgbClr val="063D86"/>
                </a:solidFill>
                <a:latin typeface="Inter Light" panose="02000503000000020004"/>
                <a:ea typeface="Inter Light" panose="02000503000000020004"/>
                <a:cs typeface="Inter Light" panose="02000503000000020004"/>
                <a:sym typeface="Inter Light" panose="02000503000000020004"/>
              </a:rPr>
              <a:t>Raises concerns about surveillance and consent.</a:t>
            </a:r>
            <a:endParaRPr lang="en-US" sz="2900" spc="-84">
              <a:solidFill>
                <a:srgbClr val="063D86"/>
              </a:solidFill>
              <a:latin typeface="Inter Light" panose="02000503000000020004"/>
              <a:ea typeface="Inter Light" panose="02000503000000020004"/>
              <a:cs typeface="Inter Light" panose="02000503000000020004"/>
              <a:sym typeface="Inter Light" panose="02000503000000020004"/>
            </a:endParaRPr>
          </a:p>
          <a:p>
            <a:pPr algn="just">
              <a:lnSpc>
                <a:spcPts val="4060"/>
              </a:lnSpc>
              <a:spcBef>
                <a:spcPct val="0"/>
              </a:spcBef>
            </a:pPr>
            <a:r>
              <a:rPr lang="en-US" sz="2900" b="1" spc="-84">
                <a:solidFill>
                  <a:srgbClr val="063D86"/>
                </a:solidFill>
                <a:latin typeface="Inter Bold" panose="020B0802030000000004"/>
                <a:ea typeface="Inter Bold" panose="020B0802030000000004"/>
                <a:cs typeface="Inter Bold" panose="020B0802030000000004"/>
                <a:sym typeface="Inter Bold" panose="020B0802030000000004"/>
              </a:rPr>
              <a:t>Cross-Border Data Transfers</a:t>
            </a:r>
            <a:endParaRPr lang="en-US" sz="2900" b="1" spc="-84">
              <a:solidFill>
                <a:srgbClr val="063D86"/>
              </a:solidFill>
              <a:latin typeface="Inter Bold" panose="020B0802030000000004"/>
              <a:ea typeface="Inter Bold" panose="020B0802030000000004"/>
              <a:cs typeface="Inter Bold" panose="020B0802030000000004"/>
              <a:sym typeface="Inter Bold" panose="020B0802030000000004"/>
            </a:endParaRPr>
          </a:p>
          <a:p>
            <a:pPr algn="just">
              <a:lnSpc>
                <a:spcPts val="4060"/>
              </a:lnSpc>
              <a:spcBef>
                <a:spcPct val="0"/>
              </a:spcBef>
            </a:pPr>
            <a:r>
              <a:rPr lang="en-US" sz="2900" spc="-84">
                <a:solidFill>
                  <a:srgbClr val="063D86"/>
                </a:solidFill>
                <a:latin typeface="Inter Light" panose="02000503000000020004"/>
                <a:ea typeface="Inter Light" panose="02000503000000020004"/>
                <a:cs typeface="Inter Light" panose="02000503000000020004"/>
                <a:sym typeface="Inter Light" panose="02000503000000020004"/>
              </a:rPr>
              <a:t>Different countries have different privacy laws, making compliance more complex.</a:t>
            </a:r>
            <a:endParaRPr lang="en-US" sz="2900" spc="-84">
              <a:solidFill>
                <a:srgbClr val="063D86"/>
              </a:solidFill>
              <a:latin typeface="Inter Light" panose="02000503000000020004"/>
              <a:ea typeface="Inter Light" panose="02000503000000020004"/>
              <a:cs typeface="Inter Light" panose="02000503000000020004"/>
              <a:sym typeface="Inter Light" panose="02000503000000020004"/>
            </a:endParaRPr>
          </a:p>
          <a:p>
            <a:pPr algn="just">
              <a:lnSpc>
                <a:spcPts val="4060"/>
              </a:lnSpc>
              <a:spcBef>
                <a:spcPct val="0"/>
              </a:spcBef>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63D86"/>
        </a:solidFill>
        <a:effectLst/>
      </p:bgPr>
    </p:bg>
    <p:spTree>
      <p:nvGrpSpPr>
        <p:cNvPr id="1" name=""/>
        <p:cNvGrpSpPr/>
        <p:nvPr/>
      </p:nvGrpSpPr>
      <p:grpSpPr>
        <a:xfrm>
          <a:off x="0" y="0"/>
          <a:ext cx="0" cy="0"/>
          <a:chOff x="0" y="0"/>
          <a:chExt cx="0" cy="0"/>
        </a:xfrm>
      </p:grpSpPr>
      <p:sp>
        <p:nvSpPr>
          <p:cNvPr id="2" name="Freeform 2"/>
          <p:cNvSpPr/>
          <p:nvPr/>
        </p:nvSpPr>
        <p:spPr>
          <a:xfrm>
            <a:off x="-549746" y="-916243"/>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4917" y="6523652"/>
            <a:ext cx="4802830" cy="4558323"/>
          </a:xfrm>
          <a:custGeom>
            <a:avLst/>
            <a:gdLst/>
            <a:ahLst/>
            <a:cxnLst/>
            <a:rect l="l" t="t" r="r" b="b"/>
            <a:pathLst>
              <a:path w="4802830" h="4558323">
                <a:moveTo>
                  <a:pt x="0" y="0"/>
                </a:moveTo>
                <a:lnTo>
                  <a:pt x="4802830" y="0"/>
                </a:lnTo>
                <a:lnTo>
                  <a:pt x="4802830" y="4558322"/>
                </a:lnTo>
                <a:lnTo>
                  <a:pt x="0" y="4558322"/>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rot="0">
            <a:off x="1028700" y="1028700"/>
            <a:ext cx="16230600" cy="8229600"/>
            <a:chOff x="0" y="0"/>
            <a:chExt cx="4274726" cy="2167467"/>
          </a:xfrm>
        </p:grpSpPr>
        <p:sp>
          <p:nvSpPr>
            <p:cNvPr id="5" name="Freeform 5"/>
            <p:cNvSpPr/>
            <p:nvPr/>
          </p:nvSpPr>
          <p:spPr>
            <a:xfrm>
              <a:off x="0" y="0"/>
              <a:ext cx="4274726" cy="2167467"/>
            </a:xfrm>
            <a:custGeom>
              <a:avLst/>
              <a:gdLst/>
              <a:ahLst/>
              <a:cxnLst/>
              <a:rect l="l" t="t" r="r" b="b"/>
              <a:pathLst>
                <a:path w="4274726" h="2167467">
                  <a:moveTo>
                    <a:pt x="0" y="0"/>
                  </a:moveTo>
                  <a:lnTo>
                    <a:pt x="4274726" y="0"/>
                  </a:lnTo>
                  <a:lnTo>
                    <a:pt x="4274726" y="2167467"/>
                  </a:lnTo>
                  <a:lnTo>
                    <a:pt x="0" y="2167467"/>
                  </a:lnTo>
                  <a:close/>
                </a:path>
              </a:pathLst>
            </a:custGeom>
            <a:solidFill>
              <a:srgbClr val="063D86"/>
            </a:solidFill>
            <a:ln w="19050" cap="sq">
              <a:solidFill>
                <a:srgbClr val="AEF9FF"/>
              </a:solidFill>
              <a:prstDash val="solid"/>
              <a:miter/>
            </a:ln>
          </p:spPr>
        </p:sp>
        <p:sp>
          <p:nvSpPr>
            <p:cNvPr id="6" name="TextBox 6"/>
            <p:cNvSpPr txBox="1"/>
            <p:nvPr/>
          </p:nvSpPr>
          <p:spPr>
            <a:xfrm>
              <a:off x="0" y="-38100"/>
              <a:ext cx="4274726" cy="2205567"/>
            </a:xfrm>
            <a:prstGeom prst="rect">
              <a:avLst/>
            </a:prstGeom>
          </p:spPr>
          <p:txBody>
            <a:bodyPr lIns="50800" tIns="50800" rIns="50800" bIns="50800" rtlCol="0" anchor="ctr"/>
            <a:lstStyle/>
            <a:p>
              <a:pPr algn="ctr">
                <a:lnSpc>
                  <a:spcPts val="2940"/>
                </a:lnSpc>
              </a:pPr>
            </a:p>
          </p:txBody>
        </p:sp>
      </p:grpSp>
      <p:sp>
        <p:nvSpPr>
          <p:cNvPr id="7" name="TextBox 7"/>
          <p:cNvSpPr txBox="1"/>
          <p:nvPr/>
        </p:nvSpPr>
        <p:spPr>
          <a:xfrm>
            <a:off x="2266592" y="2044258"/>
            <a:ext cx="13754815" cy="787781"/>
          </a:xfrm>
          <a:prstGeom prst="rect">
            <a:avLst/>
          </a:prstGeom>
        </p:spPr>
        <p:txBody>
          <a:bodyPr lIns="0" tIns="0" rIns="0" bIns="0" rtlCol="0" anchor="t">
            <a:spAutoFit/>
          </a:bodyPr>
          <a:lstStyle/>
          <a:p>
            <a:pPr algn="ctr">
              <a:lnSpc>
                <a:spcPts val="5915"/>
              </a:lnSpc>
            </a:pPr>
            <a:r>
              <a:rPr lang="en-US" sz="6100" spc="-176">
                <a:solidFill>
                  <a:srgbClr val="AEF9FF"/>
                </a:solidFill>
                <a:latin typeface="Anton" panose="00000500000000000000"/>
                <a:ea typeface="Anton" panose="00000500000000000000"/>
                <a:cs typeface="Anton" panose="00000500000000000000"/>
                <a:sym typeface="Anton" panose="00000500000000000000"/>
              </a:rPr>
              <a:t>CONCLUSION</a:t>
            </a:r>
            <a:endParaRPr lang="en-US" sz="6100" spc="-176">
              <a:solidFill>
                <a:srgbClr val="AEF9FF"/>
              </a:solidFill>
              <a:latin typeface="Anton" panose="00000500000000000000"/>
              <a:ea typeface="Anton" panose="00000500000000000000"/>
              <a:cs typeface="Anton" panose="00000500000000000000"/>
              <a:sym typeface="Anton" panose="00000500000000000000"/>
            </a:endParaRPr>
          </a:p>
        </p:txBody>
      </p:sp>
      <p:sp>
        <p:nvSpPr>
          <p:cNvPr id="8" name="TextBox 8"/>
          <p:cNvSpPr txBox="1"/>
          <p:nvPr/>
        </p:nvSpPr>
        <p:spPr>
          <a:xfrm>
            <a:off x="2109773" y="2972909"/>
            <a:ext cx="13911635" cy="5728335"/>
          </a:xfrm>
          <a:prstGeom prst="rect">
            <a:avLst/>
          </a:prstGeom>
        </p:spPr>
        <p:txBody>
          <a:bodyPr lIns="0" tIns="0" rIns="0" bIns="0" rtlCol="0" anchor="t">
            <a:spAutoFit/>
          </a:bodyPr>
          <a:lstStyle/>
          <a:p>
            <a:pPr marL="777240" lvl="1" indent="-388620" algn="l">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Software priv</a:t>
            </a:r>
            <a:r>
              <a:rPr lang="en-US" sz="3600" spc="-104">
                <a:solidFill>
                  <a:srgbClr val="AEF9FF"/>
                </a:solidFill>
                <a:latin typeface="Inter" panose="020B0502030000000004"/>
                <a:ea typeface="Inter" panose="020B0502030000000004"/>
                <a:cs typeface="Inter" panose="020B0502030000000004"/>
                <a:sym typeface="Inter" panose="020B0502030000000004"/>
              </a:rPr>
              <a:t>acy is not just a legal requirement — it is a fundamental human right. </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l">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As software becomes more deeply embedded in every part of our lives, the responsibility to protect user data grows stronger.</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l">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 Developers, companies, and governments must work together to balance technological innovation with ethical data practices.</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a:p>
            <a:pPr marL="777240" lvl="1" indent="-388620" algn="l">
              <a:lnSpc>
                <a:spcPts val="5040"/>
              </a:lnSpc>
              <a:buFont typeface="Arial" panose="020B0604020202020204"/>
              <a:buChar char="•"/>
            </a:pPr>
            <a:r>
              <a:rPr lang="en-US" sz="3600" spc="-104">
                <a:solidFill>
                  <a:srgbClr val="AEF9FF"/>
                </a:solidFill>
                <a:latin typeface="Inter" panose="020B0502030000000004"/>
                <a:ea typeface="Inter" panose="020B0502030000000004"/>
                <a:cs typeface="Inter" panose="020B0502030000000004"/>
                <a:sym typeface="Inter" panose="020B0502030000000004"/>
              </a:rPr>
              <a:t> Th</a:t>
            </a:r>
            <a:r>
              <a:rPr lang="en-US" sz="3600" spc="-104">
                <a:solidFill>
                  <a:srgbClr val="AEF9FF"/>
                </a:solidFill>
                <a:latin typeface="Inter" panose="020B0502030000000004"/>
                <a:ea typeface="Inter" panose="020B0502030000000004"/>
                <a:cs typeface="Inter" panose="020B0502030000000004"/>
                <a:sym typeface="Inter" panose="020B0502030000000004"/>
              </a:rPr>
              <a:t>e legal consequences of ignoring privacy are becoming increasingly severe, and the message is clear: privacy must be a priority, not an afterthought.</a:t>
            </a:r>
            <a:endParaRPr lang="en-US" sz="3600" spc="-104">
              <a:solidFill>
                <a:srgbClr val="AEF9FF"/>
              </a:solidFill>
              <a:latin typeface="Inter" panose="020B0502030000000004"/>
              <a:ea typeface="Inter" panose="020B0502030000000004"/>
              <a:cs typeface="Inter" panose="020B0502030000000004"/>
              <a:sym typeface="Inter" panose="020B05020300000000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1">
              <a:alphaModFix amt="42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3">
              <a:alphaModFix amt="65999"/>
              <a:extLst>
                <a:ext uri="{96DAC541-7B7A-43D3-8B79-37D633B846F1}">
                  <asvg:svgBlip xmlns:asvg="http://schemas.microsoft.com/office/drawing/2016/SVG/main" r:embed="rId4"/>
                </a:ext>
              </a:extLst>
            </a:blip>
            <a:stretch>
              <a:fillRect/>
            </a:stretch>
          </a:blipFill>
        </p:spPr>
      </p:sp>
      <p:sp>
        <p:nvSpPr>
          <p:cNvPr id="4" name="Freeform 4"/>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sp>
      <p:sp>
        <p:nvSpPr>
          <p:cNvPr id="5" name="Freeform 5"/>
          <p:cNvSpPr/>
          <p:nvPr/>
        </p:nvSpPr>
        <p:spPr>
          <a:xfrm rot="756773">
            <a:off x="15755415" y="1170662"/>
            <a:ext cx="1570143" cy="2442234"/>
          </a:xfrm>
          <a:custGeom>
            <a:avLst/>
            <a:gdLst/>
            <a:ahLst/>
            <a:cxnLst/>
            <a:rect l="l" t="t" r="r" b="b"/>
            <a:pathLst>
              <a:path w="1570143" h="2442234">
                <a:moveTo>
                  <a:pt x="0" y="0"/>
                </a:moveTo>
                <a:lnTo>
                  <a:pt x="1570143" y="0"/>
                </a:lnTo>
                <a:lnTo>
                  <a:pt x="1570143" y="2442234"/>
                </a:lnTo>
                <a:lnTo>
                  <a:pt x="0" y="244223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901293" y="6224704"/>
            <a:ext cx="3097441" cy="3808806"/>
          </a:xfrm>
          <a:custGeom>
            <a:avLst/>
            <a:gdLst/>
            <a:ahLst/>
            <a:cxnLst/>
            <a:rect l="l" t="t" r="r" b="b"/>
            <a:pathLst>
              <a:path w="3097441" h="3808806">
                <a:moveTo>
                  <a:pt x="0" y="0"/>
                </a:moveTo>
                <a:lnTo>
                  <a:pt x="3097441" y="0"/>
                </a:lnTo>
                <a:lnTo>
                  <a:pt x="3097441" y="3808806"/>
                </a:lnTo>
                <a:lnTo>
                  <a:pt x="0" y="380880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a:off x="4361418" y="1105534"/>
            <a:ext cx="10096309" cy="7357685"/>
          </a:xfrm>
          <a:custGeom>
            <a:avLst/>
            <a:gdLst/>
            <a:ahLst/>
            <a:cxnLst/>
            <a:rect l="l" t="t" r="r" b="b"/>
            <a:pathLst>
              <a:path w="10096309" h="7357685">
                <a:moveTo>
                  <a:pt x="0" y="0"/>
                </a:moveTo>
                <a:lnTo>
                  <a:pt x="10096309" y="0"/>
                </a:lnTo>
                <a:lnTo>
                  <a:pt x="10096309" y="7357686"/>
                </a:lnTo>
                <a:lnTo>
                  <a:pt x="0" y="7357686"/>
                </a:lnTo>
                <a:lnTo>
                  <a:pt x="0" y="0"/>
                </a:lnTo>
                <a:close/>
              </a:path>
            </a:pathLst>
          </a:custGeom>
          <a:blipFill>
            <a:blip r:embed="rId11"/>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161312" y="-702184"/>
            <a:ext cx="4372111" cy="3306906"/>
          </a:xfrm>
          <a:custGeom>
            <a:avLst/>
            <a:gdLst/>
            <a:ahLst/>
            <a:cxnLst/>
            <a:rect l="l" t="t" r="r" b="b"/>
            <a:pathLst>
              <a:path w="4372111" h="3306906">
                <a:moveTo>
                  <a:pt x="0" y="0"/>
                </a:moveTo>
                <a:lnTo>
                  <a:pt x="4372111" y="0"/>
                </a:lnTo>
                <a:lnTo>
                  <a:pt x="4372111" y="3306906"/>
                </a:lnTo>
                <a:lnTo>
                  <a:pt x="0" y="3306906"/>
                </a:lnTo>
                <a:lnTo>
                  <a:pt x="0" y="0"/>
                </a:lnTo>
                <a:close/>
              </a:path>
            </a:pathLst>
          </a:custGeom>
          <a:blipFill>
            <a:blip r:embed="rId1">
              <a:alphaModFix amt="42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1758097" y="5678057"/>
            <a:ext cx="7135220" cy="6330886"/>
          </a:xfrm>
          <a:custGeom>
            <a:avLst/>
            <a:gdLst/>
            <a:ahLst/>
            <a:cxnLst/>
            <a:rect l="l" t="t" r="r" b="b"/>
            <a:pathLst>
              <a:path w="7135220" h="6330886">
                <a:moveTo>
                  <a:pt x="0" y="0"/>
                </a:moveTo>
                <a:lnTo>
                  <a:pt x="7135220" y="0"/>
                </a:lnTo>
                <a:lnTo>
                  <a:pt x="7135220" y="6330887"/>
                </a:lnTo>
                <a:lnTo>
                  <a:pt x="0" y="6330887"/>
                </a:lnTo>
                <a:lnTo>
                  <a:pt x="0" y="0"/>
                </a:lnTo>
                <a:close/>
              </a:path>
            </a:pathLst>
          </a:custGeom>
          <a:blipFill>
            <a:blip r:embed="rId3">
              <a:alphaModFix amt="65999"/>
              <a:extLst>
                <a:ext uri="{96DAC541-7B7A-43D3-8B79-37D633B846F1}">
                  <asvg:svgBlip xmlns:asvg="http://schemas.microsoft.com/office/drawing/2016/SVG/main" r:embed="rId4"/>
                </a:ext>
              </a:extLst>
            </a:blip>
            <a:stretch>
              <a:fillRect/>
            </a:stretch>
          </a:blipFill>
        </p:spPr>
      </p:sp>
      <p:sp>
        <p:nvSpPr>
          <p:cNvPr id="4" name="Freeform 4"/>
          <p:cNvSpPr/>
          <p:nvPr/>
        </p:nvSpPr>
        <p:spPr>
          <a:xfrm>
            <a:off x="-754483" y="-1363553"/>
            <a:ext cx="6803544" cy="6147930"/>
          </a:xfrm>
          <a:custGeom>
            <a:avLst/>
            <a:gdLst/>
            <a:ahLst/>
            <a:cxnLst/>
            <a:rect l="l" t="t" r="r" b="b"/>
            <a:pathLst>
              <a:path w="6803544" h="6147930">
                <a:moveTo>
                  <a:pt x="0" y="0"/>
                </a:moveTo>
                <a:lnTo>
                  <a:pt x="6803544" y="0"/>
                </a:lnTo>
                <a:lnTo>
                  <a:pt x="6803544" y="6147930"/>
                </a:lnTo>
                <a:lnTo>
                  <a:pt x="0" y="6147930"/>
                </a:lnTo>
                <a:lnTo>
                  <a:pt x="0" y="0"/>
                </a:lnTo>
                <a:close/>
              </a:path>
            </a:pathLst>
          </a:custGeom>
          <a:blipFill>
            <a:blip r:embed="rId5">
              <a:alphaModFix amt="58000"/>
              <a:extLst>
                <a:ext uri="{96DAC541-7B7A-43D3-8B79-37D633B846F1}">
                  <asvg:svgBlip xmlns:asvg="http://schemas.microsoft.com/office/drawing/2016/SVG/main" r:embed="rId6"/>
                </a:ext>
              </a:extLst>
            </a:blip>
            <a:stretch>
              <a:fillRect/>
            </a:stretch>
          </a:blipFill>
        </p:spPr>
      </p:sp>
      <p:sp>
        <p:nvSpPr>
          <p:cNvPr id="5" name="Freeform 5"/>
          <p:cNvSpPr/>
          <p:nvPr/>
        </p:nvSpPr>
        <p:spPr>
          <a:xfrm rot="756773">
            <a:off x="15755415" y="1170662"/>
            <a:ext cx="1570143" cy="2442234"/>
          </a:xfrm>
          <a:custGeom>
            <a:avLst/>
            <a:gdLst/>
            <a:ahLst/>
            <a:cxnLst/>
            <a:rect l="l" t="t" r="r" b="b"/>
            <a:pathLst>
              <a:path w="1570143" h="2442234">
                <a:moveTo>
                  <a:pt x="0" y="0"/>
                </a:moveTo>
                <a:lnTo>
                  <a:pt x="1570143" y="0"/>
                </a:lnTo>
                <a:lnTo>
                  <a:pt x="1570143" y="2442234"/>
                </a:lnTo>
                <a:lnTo>
                  <a:pt x="0" y="244223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901293" y="6224704"/>
            <a:ext cx="3097441" cy="3808806"/>
          </a:xfrm>
          <a:custGeom>
            <a:avLst/>
            <a:gdLst/>
            <a:ahLst/>
            <a:cxnLst/>
            <a:rect l="l" t="t" r="r" b="b"/>
            <a:pathLst>
              <a:path w="3097441" h="3808806">
                <a:moveTo>
                  <a:pt x="0" y="0"/>
                </a:moveTo>
                <a:lnTo>
                  <a:pt x="3097441" y="0"/>
                </a:lnTo>
                <a:lnTo>
                  <a:pt x="3097441" y="3808806"/>
                </a:lnTo>
                <a:lnTo>
                  <a:pt x="0" y="380880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953624" flipH="1" flipV="1">
            <a:off x="-592410" y="8494973"/>
            <a:ext cx="2987406" cy="2259565"/>
          </a:xfrm>
          <a:custGeom>
            <a:avLst/>
            <a:gdLst/>
            <a:ahLst/>
            <a:cxnLst/>
            <a:rect l="l" t="t" r="r" b="b"/>
            <a:pathLst>
              <a:path w="2987406" h="2259565">
                <a:moveTo>
                  <a:pt x="2987405" y="2259565"/>
                </a:moveTo>
                <a:lnTo>
                  <a:pt x="0" y="2259565"/>
                </a:lnTo>
                <a:lnTo>
                  <a:pt x="0" y="0"/>
                </a:lnTo>
                <a:lnTo>
                  <a:pt x="2987405" y="0"/>
                </a:lnTo>
                <a:lnTo>
                  <a:pt x="2987405" y="2259565"/>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8" name="Freeform 8"/>
          <p:cNvSpPr/>
          <p:nvPr/>
        </p:nvSpPr>
        <p:spPr>
          <a:xfrm>
            <a:off x="5394479" y="1710412"/>
            <a:ext cx="7371089" cy="6950643"/>
          </a:xfrm>
          <a:custGeom>
            <a:avLst/>
            <a:gdLst/>
            <a:ahLst/>
            <a:cxnLst/>
            <a:rect l="l" t="t" r="r" b="b"/>
            <a:pathLst>
              <a:path w="7371089" h="6950643">
                <a:moveTo>
                  <a:pt x="0" y="0"/>
                </a:moveTo>
                <a:lnTo>
                  <a:pt x="7371089" y="0"/>
                </a:lnTo>
                <a:lnTo>
                  <a:pt x="7371089" y="6950643"/>
                </a:lnTo>
                <a:lnTo>
                  <a:pt x="0" y="6950643"/>
                </a:lnTo>
                <a:lnTo>
                  <a:pt x="0" y="0"/>
                </a:lnTo>
                <a:close/>
              </a:path>
            </a:pathLst>
          </a:custGeom>
          <a:blipFill>
            <a:blip r:embed="rId11"/>
            <a:stretch>
              <a:fillRect t="-3024" b="-302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4883</Words>
  <Application>WPS Presentation</Application>
  <PresentationFormat>On-screen Show (4:3)</PresentationFormat>
  <Paragraphs>105</Paragraphs>
  <Slides>14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SimSun</vt:lpstr>
      <vt:lpstr>Wingdings</vt:lpstr>
      <vt:lpstr>Times New Roman Bold</vt:lpstr>
      <vt:lpstr>Inter</vt:lpstr>
      <vt:lpstr>Arial</vt:lpstr>
      <vt:lpstr>Times New Roman</vt:lpstr>
      <vt:lpstr>Anton</vt:lpstr>
      <vt:lpstr>Inter Light</vt:lpstr>
      <vt:lpstr>Inter Bold</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Privacy &amp; Legal Consequences</dc:title>
  <dc:creator/>
  <cp:lastModifiedBy>Safalta Shrestha</cp:lastModifiedBy>
  <cp:revision>2</cp:revision>
  <dcterms:created xsi:type="dcterms:W3CDTF">2006-08-16T00:00:00Z</dcterms:created>
  <dcterms:modified xsi:type="dcterms:W3CDTF">2026-06-09T01:12:21Z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444C852E8E204CC59B46B800D227F51C_12</vt:lpwstr>
  </property>
</Properties>
</file>