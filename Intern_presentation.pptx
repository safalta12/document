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handoutMasters/handoutMaster1.xml" ContentType="application/vnd.openxmlformats-officedocument.presentationml.handoutMaster+xml"/>
  <Override PartName="/ppt/media/image3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handoutMasterIdLst>
    <p:handoutMasterId r:id="rId21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8288000" cy="10287000"/>
  <p:notesSz cx="6858000" cy="9144000"/>
  <p:embeddedFontLst>
    <p:embeddedFont>
      <p:font typeface="DM Sans"/>
      <p:regular r:id="rId25"/>
    </p:embeddedFont>
    <p:embeddedFont>
      <p:font typeface="Impact" panose="020B0806030902050204"/>
      <p:regular r:id="rId26"/>
    </p:embeddedFont>
    <p:embeddedFont>
      <p:font typeface="DM Sans Bold"/>
      <p:bold r:id="rId27"/>
    </p:embeddedFont>
    <p:embeddedFont>
      <p:font typeface="Calibri" panose="020F0502020204030204" charset="0"/>
      <p:regular r:id="rId28"/>
      <p:bold r:id="rId29"/>
      <p:italic r:id="rId30"/>
      <p:boldItalic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4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4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font" Target="fonts/font7.fntdata"/><Relationship Id="rId30" Type="http://schemas.openxmlformats.org/officeDocument/2006/relationships/font" Target="fonts/font6.fntdata"/><Relationship Id="rId3" Type="http://schemas.openxmlformats.org/officeDocument/2006/relationships/slide" Target="slides/slide1.xml"/><Relationship Id="rId29" Type="http://schemas.openxmlformats.org/officeDocument/2006/relationships/font" Target="fonts/font5.fntdata"/><Relationship Id="rId28" Type="http://schemas.openxmlformats.org/officeDocument/2006/relationships/font" Target="fonts/font4.fntdata"/><Relationship Id="rId27" Type="http://schemas.openxmlformats.org/officeDocument/2006/relationships/font" Target="fonts/font3.fntdata"/><Relationship Id="rId26" Type="http://schemas.openxmlformats.org/officeDocument/2006/relationships/font" Target="fonts/font2.fntdata"/><Relationship Id="rId25" Type="http://schemas.openxmlformats.org/officeDocument/2006/relationships/font" Target="fonts/font1.fntdata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7.svg"/><Relationship Id="rId3" Type="http://schemas.openxmlformats.org/officeDocument/2006/relationships/image" Target="../media/image6.png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8173003" y="7030230"/>
            <a:ext cx="9478010" cy="2042848"/>
            <a:chOff x="0" y="0"/>
            <a:chExt cx="2496266" cy="5380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96266" cy="538034"/>
            </a:xfrm>
            <a:custGeom>
              <a:avLst/>
              <a:gdLst/>
              <a:ahLst/>
              <a:cxnLst/>
              <a:rect l="l" t="t" r="r" b="b"/>
              <a:pathLst>
                <a:path w="2496266" h="538034">
                  <a:moveTo>
                    <a:pt x="0" y="0"/>
                  </a:moveTo>
                  <a:lnTo>
                    <a:pt x="2496266" y="0"/>
                  </a:lnTo>
                  <a:lnTo>
                    <a:pt x="2496266" y="538034"/>
                  </a:lnTo>
                  <a:lnTo>
                    <a:pt x="0" y="53803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96266" cy="5761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0" y="1302778"/>
            <a:ext cx="7577940" cy="7770300"/>
            <a:chOff x="0" y="0"/>
            <a:chExt cx="6350418" cy="65116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419" cy="6511620"/>
            </a:xfrm>
            <a:custGeom>
              <a:avLst/>
              <a:gdLst/>
              <a:ahLst/>
              <a:cxnLst/>
              <a:rect l="l" t="t" r="r" b="b"/>
              <a:pathLst>
                <a:path w="6350419" h="6511620">
                  <a:moveTo>
                    <a:pt x="0" y="0"/>
                  </a:moveTo>
                  <a:lnTo>
                    <a:pt x="4898543" y="0"/>
                  </a:lnTo>
                  <a:cubicBezTo>
                    <a:pt x="5699408" y="0"/>
                    <a:pt x="6350419" y="667535"/>
                    <a:pt x="6350419" y="1488730"/>
                  </a:cubicBezTo>
                  <a:lnTo>
                    <a:pt x="6350419" y="6511620"/>
                  </a:lnTo>
                  <a:lnTo>
                    <a:pt x="0" y="65116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27684" r="-27684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0">
            <a:off x="0" y="9834985"/>
            <a:ext cx="18769279" cy="904030"/>
            <a:chOff x="0" y="0"/>
            <a:chExt cx="4943349" cy="23809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943349" cy="238098"/>
            </a:xfrm>
            <a:custGeom>
              <a:avLst/>
              <a:gdLst/>
              <a:ahLst/>
              <a:cxnLst/>
              <a:rect l="l" t="t" r="r" b="b"/>
              <a:pathLst>
                <a:path w="4943349" h="238098">
                  <a:moveTo>
                    <a:pt x="0" y="0"/>
                  </a:moveTo>
                  <a:lnTo>
                    <a:pt x="4943349" y="0"/>
                  </a:lnTo>
                  <a:lnTo>
                    <a:pt x="4943349" y="238098"/>
                  </a:lnTo>
                  <a:lnTo>
                    <a:pt x="0" y="238098"/>
                  </a:lnTo>
                  <a:close/>
                </a:path>
              </a:pathLst>
            </a:custGeom>
            <a:solidFill>
              <a:srgbClr val="F26934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943349" cy="2761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0" name="Freeform 10"/>
          <p:cNvSpPr/>
          <p:nvPr/>
        </p:nvSpPr>
        <p:spPr>
          <a:xfrm>
            <a:off x="16602440" y="376539"/>
            <a:ext cx="2097146" cy="671087"/>
          </a:xfrm>
          <a:custGeom>
            <a:avLst/>
            <a:gdLst/>
            <a:ahLst/>
            <a:cxnLst/>
            <a:rect l="l" t="t" r="r" b="b"/>
            <a:pathLst>
              <a:path w="2097146" h="671087">
                <a:moveTo>
                  <a:pt x="0" y="0"/>
                </a:moveTo>
                <a:lnTo>
                  <a:pt x="2097145" y="0"/>
                </a:lnTo>
                <a:lnTo>
                  <a:pt x="2097145" y="671087"/>
                </a:lnTo>
                <a:lnTo>
                  <a:pt x="0" y="6710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9329969" y="7524133"/>
            <a:ext cx="7164076" cy="1548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50"/>
              </a:lnSpc>
            </a:pPr>
            <a:r>
              <a:rPr lang="en-US" sz="3600" spc="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Prepared by: Safalta Shrestha</a:t>
            </a:r>
            <a:endParaRPr lang="en-US" sz="3600" spc="97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ctr">
              <a:lnSpc>
                <a:spcPts val="2230"/>
              </a:lnSpc>
            </a:pPr>
          </a:p>
          <a:p>
            <a:pPr algn="ctr">
              <a:lnSpc>
                <a:spcPts val="2230"/>
              </a:lnSpc>
            </a:pPr>
          </a:p>
          <a:p>
            <a:pPr algn="ctr">
              <a:lnSpc>
                <a:spcPts val="2230"/>
              </a:lnSpc>
            </a:pPr>
          </a:p>
        </p:txBody>
      </p:sp>
      <p:sp>
        <p:nvSpPr>
          <p:cNvPr id="12" name="TextBox 12"/>
          <p:cNvSpPr txBox="1"/>
          <p:nvPr/>
        </p:nvSpPr>
        <p:spPr>
          <a:xfrm>
            <a:off x="7754207" y="1965537"/>
            <a:ext cx="10315601" cy="4401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0"/>
              </a:lnSpc>
            </a:pPr>
            <a:r>
              <a:rPr lang="en-US" sz="6500" spc="220">
                <a:solidFill>
                  <a:srgbClr val="F26934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rPr>
              <a:t>UI/UX Design Internship </a:t>
            </a:r>
            <a:endParaRPr lang="en-US" sz="6500" spc="220">
              <a:solidFill>
                <a:srgbClr val="F26934"/>
              </a:solidFill>
              <a:latin typeface="Impact" panose="020B0806030902050204"/>
              <a:ea typeface="Impact" panose="020B0806030902050204"/>
              <a:cs typeface="Impact" panose="020B0806030902050204"/>
              <a:sym typeface="Impact" panose="020B0806030902050204"/>
            </a:endParaRPr>
          </a:p>
          <a:p>
            <a:pPr algn="ctr">
              <a:lnSpc>
                <a:spcPts val="11440"/>
              </a:lnSpc>
            </a:pPr>
            <a:r>
              <a:rPr lang="en-US" sz="6500" spc="220">
                <a:solidFill>
                  <a:srgbClr val="F26934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rPr>
              <a:t>at</a:t>
            </a:r>
            <a:endParaRPr lang="en-US" sz="6500" spc="220">
              <a:solidFill>
                <a:srgbClr val="F26934"/>
              </a:solidFill>
              <a:latin typeface="Impact" panose="020B0806030902050204"/>
              <a:ea typeface="Impact" panose="020B0806030902050204"/>
              <a:cs typeface="Impact" panose="020B0806030902050204"/>
              <a:sym typeface="Impact" panose="020B0806030902050204"/>
            </a:endParaRPr>
          </a:p>
          <a:p>
            <a:pPr algn="ctr">
              <a:lnSpc>
                <a:spcPts val="11440"/>
              </a:lnSpc>
            </a:pPr>
            <a:r>
              <a:rPr lang="en-US" sz="6500" spc="220">
                <a:solidFill>
                  <a:srgbClr val="F26934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rPr>
              <a:t>IELTSGo Pvt.Ltd.</a:t>
            </a:r>
            <a:endParaRPr lang="en-US" sz="6500" spc="220">
              <a:solidFill>
                <a:srgbClr val="F26934"/>
              </a:solidFill>
              <a:latin typeface="Impact" panose="020B0806030902050204"/>
              <a:ea typeface="Impact" panose="020B0806030902050204"/>
              <a:cs typeface="Impact" panose="020B0806030902050204"/>
              <a:sym typeface="Impact" panose="020B080603090205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2546350" y="2001520"/>
            <a:ext cx="14055725" cy="7058025"/>
            <a:chOff x="0" y="0"/>
            <a:chExt cx="3978265" cy="18589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978265" cy="1858931"/>
            </a:xfrm>
            <a:custGeom>
              <a:avLst/>
              <a:gdLst/>
              <a:ahLst/>
              <a:cxnLst/>
              <a:rect l="l" t="t" r="r" b="b"/>
              <a:pathLst>
                <a:path w="3978265" h="1858931">
                  <a:moveTo>
                    <a:pt x="0" y="0"/>
                  </a:moveTo>
                  <a:lnTo>
                    <a:pt x="3978265" y="0"/>
                  </a:lnTo>
                  <a:lnTo>
                    <a:pt x="3978265" y="1858931"/>
                  </a:lnTo>
                  <a:lnTo>
                    <a:pt x="0" y="1858931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978265" cy="18970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0" y="9834985"/>
            <a:ext cx="18769279" cy="904030"/>
            <a:chOff x="0" y="0"/>
            <a:chExt cx="4943349" cy="23809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943349" cy="238098"/>
            </a:xfrm>
            <a:custGeom>
              <a:avLst/>
              <a:gdLst/>
              <a:ahLst/>
              <a:cxnLst/>
              <a:rect l="l" t="t" r="r" b="b"/>
              <a:pathLst>
                <a:path w="4943349" h="238098">
                  <a:moveTo>
                    <a:pt x="0" y="0"/>
                  </a:moveTo>
                  <a:lnTo>
                    <a:pt x="4943349" y="0"/>
                  </a:lnTo>
                  <a:lnTo>
                    <a:pt x="4943349" y="238098"/>
                  </a:lnTo>
                  <a:lnTo>
                    <a:pt x="0" y="238098"/>
                  </a:lnTo>
                  <a:close/>
                </a:path>
              </a:pathLst>
            </a:custGeom>
            <a:solidFill>
              <a:srgbClr val="F2693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943349" cy="2761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8" name="Freeform 8"/>
          <p:cNvSpPr/>
          <p:nvPr/>
        </p:nvSpPr>
        <p:spPr>
          <a:xfrm>
            <a:off x="16602440" y="376539"/>
            <a:ext cx="2097146" cy="671087"/>
          </a:xfrm>
          <a:custGeom>
            <a:avLst/>
            <a:gdLst/>
            <a:ahLst/>
            <a:cxnLst/>
            <a:rect l="l" t="t" r="r" b="b"/>
            <a:pathLst>
              <a:path w="2097146" h="671087">
                <a:moveTo>
                  <a:pt x="0" y="0"/>
                </a:moveTo>
                <a:lnTo>
                  <a:pt x="2097145" y="0"/>
                </a:lnTo>
                <a:lnTo>
                  <a:pt x="2097145" y="671087"/>
                </a:lnTo>
                <a:lnTo>
                  <a:pt x="0" y="671087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29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9" name="Freeform 9"/>
          <p:cNvSpPr/>
          <p:nvPr/>
        </p:nvSpPr>
        <p:spPr>
          <a:xfrm>
            <a:off x="448893" y="8922757"/>
            <a:ext cx="2097146" cy="671087"/>
          </a:xfrm>
          <a:custGeom>
            <a:avLst/>
            <a:gdLst/>
            <a:ahLst/>
            <a:cxnLst/>
            <a:rect l="l" t="t" r="r" b="b"/>
            <a:pathLst>
              <a:path w="2097146" h="671087">
                <a:moveTo>
                  <a:pt x="0" y="0"/>
                </a:moveTo>
                <a:lnTo>
                  <a:pt x="2097146" y="0"/>
                </a:lnTo>
                <a:lnTo>
                  <a:pt x="2097146" y="671086"/>
                </a:lnTo>
                <a:lnTo>
                  <a:pt x="0" y="67108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29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10" name="TextBox 10"/>
          <p:cNvSpPr txBox="1"/>
          <p:nvPr/>
        </p:nvSpPr>
        <p:spPr>
          <a:xfrm>
            <a:off x="2743200" y="2171700"/>
            <a:ext cx="10885170" cy="61575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60" lvl="1" indent="-367030" algn="l">
              <a:lnSpc>
                <a:spcPts val="5335"/>
              </a:lnSpc>
              <a:buFont typeface="Arial" panose="020B0604020202020204"/>
              <a:buChar char="•"/>
            </a:pPr>
            <a:r>
              <a:rPr lang="en-US" sz="3400" spc="9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Organization &amp; Internship</a:t>
            </a:r>
            <a:endParaRPr lang="en-US" sz="3400" spc="91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734060" lvl="1" indent="-367030" algn="l">
              <a:lnSpc>
                <a:spcPts val="5335"/>
              </a:lnSpc>
              <a:buFont typeface="Arial" panose="020B0604020202020204"/>
              <a:buChar char="•"/>
            </a:pPr>
            <a:r>
              <a:rPr lang="en-US" sz="3400" spc="9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Organization Hierarchy</a:t>
            </a:r>
            <a:endParaRPr lang="en-US" sz="3400" spc="91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734060" lvl="1" indent="-367030" algn="l">
              <a:lnSpc>
                <a:spcPts val="5335"/>
              </a:lnSpc>
              <a:buFont typeface="Arial" panose="020B0604020202020204"/>
              <a:buChar char="•"/>
            </a:pPr>
            <a:r>
              <a:rPr lang="en-US" sz="3400" spc="9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Problem Statement &amp; </a:t>
            </a:r>
            <a:r>
              <a:rPr lang="en-US" sz="3400" spc="9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Objectives</a:t>
            </a:r>
            <a:endParaRPr lang="en-US" sz="3400" spc="91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734060" lvl="1" indent="-367030" algn="l">
              <a:lnSpc>
                <a:spcPts val="5335"/>
              </a:lnSpc>
              <a:buFont typeface="Arial" panose="020B0604020202020204"/>
              <a:buChar char="•"/>
            </a:pPr>
            <a:r>
              <a:rPr lang="en-US" sz="3400" spc="9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Major Project</a:t>
            </a:r>
            <a:endParaRPr lang="en-US" sz="3400" spc="91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734060" lvl="1" indent="-367030" algn="l">
              <a:lnSpc>
                <a:spcPts val="5335"/>
              </a:lnSpc>
              <a:buFont typeface="Arial" panose="020B0604020202020204"/>
              <a:buChar char="•"/>
            </a:pPr>
            <a:r>
              <a:rPr lang="en-US" sz="3400" spc="9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Wireframing Design</a:t>
            </a:r>
            <a:endParaRPr lang="en-US" sz="3400" spc="91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734060" lvl="1" indent="-367030" algn="l">
              <a:lnSpc>
                <a:spcPts val="5335"/>
              </a:lnSpc>
              <a:buFont typeface="Arial" panose="020B0604020202020204"/>
              <a:buChar char="•"/>
            </a:pPr>
            <a:r>
              <a:rPr lang="en-US" sz="3400" spc="9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Roles, Responsibilities &amp; Tools</a:t>
            </a:r>
            <a:endParaRPr lang="en-US" sz="3400" spc="91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734060" lvl="1" indent="-367030" algn="l">
              <a:lnSpc>
                <a:spcPts val="5335"/>
              </a:lnSpc>
              <a:buFont typeface="Arial" panose="020B0604020202020204"/>
              <a:buChar char="•"/>
            </a:pPr>
            <a:r>
              <a:rPr lang="en-US" sz="3400" spc="9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Internship Progress/ Weekly Highlights</a:t>
            </a:r>
            <a:endParaRPr lang="en-US" sz="3400" spc="91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734060" lvl="1" indent="-367030" algn="l">
              <a:lnSpc>
                <a:spcPts val="5335"/>
              </a:lnSpc>
              <a:buFont typeface="Arial" panose="020B0604020202020204"/>
              <a:buChar char="•"/>
            </a:pPr>
            <a:r>
              <a:rPr lang="en-US" sz="3400" spc="9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Technical &amp; Professional Learning</a:t>
            </a:r>
            <a:endParaRPr lang="en-US" sz="3400" spc="91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734060" lvl="1" indent="-367030" algn="l">
              <a:lnSpc>
                <a:spcPts val="5335"/>
              </a:lnSpc>
              <a:buFont typeface="Arial" panose="020B0604020202020204"/>
              <a:buChar char="•"/>
            </a:pPr>
            <a:r>
              <a:rPr lang="en-US" sz="3400" spc="9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Conclusion</a:t>
            </a:r>
            <a:endParaRPr lang="en-US" sz="3400" spc="91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4847242" y="388233"/>
            <a:ext cx="9074795" cy="161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00"/>
              </a:lnSpc>
            </a:pPr>
            <a:r>
              <a:rPr lang="en-US" sz="8500" spc="229">
                <a:solidFill>
                  <a:srgbClr val="F26934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rPr>
              <a:t>Table of Contents</a:t>
            </a:r>
            <a:endParaRPr lang="en-US" sz="8500" spc="229">
              <a:solidFill>
                <a:srgbClr val="F26934"/>
              </a:solidFill>
              <a:latin typeface="Impact" panose="020B0806030902050204"/>
              <a:ea typeface="Impact" panose="020B0806030902050204"/>
              <a:cs typeface="Impact" panose="020B0806030902050204"/>
              <a:sym typeface="Impact" panose="020B0806030902050204"/>
            </a:endParaRPr>
          </a:p>
        </p:txBody>
      </p:sp>
      <p:sp>
        <p:nvSpPr>
          <p:cNvPr id="12" name="PageNumber"/>
          <p:cNvSpPr txBox="1"/>
          <p:nvPr/>
        </p:nvSpPr>
        <p:spPr>
          <a:xfrm>
            <a:off x="8964295" y="9784017"/>
            <a:ext cx="359410" cy="47561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>
                <a:solidFill>
                  <a:srgbClr val="5A5A5A"/>
                </a:solidFill>
                <a:latin typeface="Arial" panose="020B0604020202020204"/>
              </a:rPr>
              <a:t>1</a:t>
            </a:r>
            <a:endParaRPr sz="2500">
              <a:solidFill>
                <a:srgbClr val="5A5A5A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23336" y="-571202"/>
            <a:ext cx="3570012" cy="1142404"/>
          </a:xfrm>
          <a:custGeom>
            <a:avLst/>
            <a:gdLst/>
            <a:ahLst/>
            <a:cxnLst/>
            <a:rect l="l" t="t" r="r" b="b"/>
            <a:pathLst>
              <a:path w="3570012" h="1142404">
                <a:moveTo>
                  <a:pt x="0" y="0"/>
                </a:moveTo>
                <a:lnTo>
                  <a:pt x="3570012" y="0"/>
                </a:lnTo>
                <a:lnTo>
                  <a:pt x="3570012" y="1142404"/>
                </a:lnTo>
                <a:lnTo>
                  <a:pt x="0" y="1142404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29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3" name="Freeform 3"/>
          <p:cNvSpPr/>
          <p:nvPr/>
        </p:nvSpPr>
        <p:spPr>
          <a:xfrm>
            <a:off x="-19873" y="9951457"/>
            <a:ext cx="2097146" cy="671087"/>
          </a:xfrm>
          <a:custGeom>
            <a:avLst/>
            <a:gdLst/>
            <a:ahLst/>
            <a:cxnLst/>
            <a:rect l="l" t="t" r="r" b="b"/>
            <a:pathLst>
              <a:path w="2097146" h="671087">
                <a:moveTo>
                  <a:pt x="0" y="0"/>
                </a:moveTo>
                <a:lnTo>
                  <a:pt x="2097146" y="0"/>
                </a:lnTo>
                <a:lnTo>
                  <a:pt x="2097146" y="671086"/>
                </a:lnTo>
                <a:lnTo>
                  <a:pt x="0" y="67108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29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4318686" y="531642"/>
            <a:ext cx="12940614" cy="1612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00"/>
              </a:lnSpc>
            </a:pPr>
            <a:r>
              <a:rPr lang="en-US" sz="8500" spc="152">
                <a:solidFill>
                  <a:srgbClr val="F26934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rPr>
              <a:t>Organization &amp; Internship</a:t>
            </a:r>
            <a:endParaRPr lang="en-US" sz="8500" spc="152">
              <a:solidFill>
                <a:srgbClr val="F26934"/>
              </a:solidFill>
              <a:latin typeface="Impact" panose="020B0806030902050204"/>
              <a:ea typeface="Impact" panose="020B0806030902050204"/>
              <a:cs typeface="Impact" panose="020B0806030902050204"/>
              <a:sym typeface="Impact" panose="020B0806030902050204"/>
            </a:endParaRPr>
          </a:p>
        </p:txBody>
      </p:sp>
      <p:grpSp>
        <p:nvGrpSpPr>
          <p:cNvPr id="5" name="Group 5"/>
          <p:cNvGrpSpPr/>
          <p:nvPr/>
        </p:nvGrpSpPr>
        <p:grpSpPr>
          <a:xfrm rot="0">
            <a:off x="1028700" y="2699661"/>
            <a:ext cx="6989446" cy="3099918"/>
            <a:chOff x="0" y="0"/>
            <a:chExt cx="9319261" cy="4133224"/>
          </a:xfrm>
        </p:grpSpPr>
        <p:grpSp>
          <p:nvGrpSpPr>
            <p:cNvPr id="6" name="Group 6"/>
            <p:cNvGrpSpPr/>
            <p:nvPr/>
          </p:nvGrpSpPr>
          <p:grpSpPr>
            <a:xfrm rot="0">
              <a:off x="0" y="0"/>
              <a:ext cx="9319261" cy="4133224"/>
              <a:chOff x="0" y="0"/>
              <a:chExt cx="1840842" cy="81643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840842" cy="816439"/>
              </a:xfrm>
              <a:custGeom>
                <a:avLst/>
                <a:gdLst/>
                <a:ahLst/>
                <a:cxnLst/>
                <a:rect l="l" t="t" r="r" b="b"/>
                <a:pathLst>
                  <a:path w="1840842" h="816439">
                    <a:moveTo>
                      <a:pt x="104120" y="0"/>
                    </a:moveTo>
                    <a:lnTo>
                      <a:pt x="1736722" y="0"/>
                    </a:lnTo>
                    <a:cubicBezTo>
                      <a:pt x="1794226" y="0"/>
                      <a:pt x="1840842" y="46616"/>
                      <a:pt x="1840842" y="104120"/>
                    </a:cubicBezTo>
                    <a:lnTo>
                      <a:pt x="1840842" y="712319"/>
                    </a:lnTo>
                    <a:cubicBezTo>
                      <a:pt x="1840842" y="739934"/>
                      <a:pt x="1829872" y="766417"/>
                      <a:pt x="1810346" y="785943"/>
                    </a:cubicBezTo>
                    <a:cubicBezTo>
                      <a:pt x="1790819" y="805469"/>
                      <a:pt x="1764336" y="816439"/>
                      <a:pt x="1736722" y="816439"/>
                    </a:cubicBezTo>
                    <a:lnTo>
                      <a:pt x="104120" y="816439"/>
                    </a:lnTo>
                    <a:cubicBezTo>
                      <a:pt x="76506" y="816439"/>
                      <a:pt x="50022" y="805469"/>
                      <a:pt x="30496" y="785943"/>
                    </a:cubicBezTo>
                    <a:cubicBezTo>
                      <a:pt x="10970" y="766417"/>
                      <a:pt x="0" y="739934"/>
                      <a:pt x="0" y="712319"/>
                    </a:cubicBezTo>
                    <a:lnTo>
                      <a:pt x="0" y="104120"/>
                    </a:lnTo>
                    <a:cubicBezTo>
                      <a:pt x="0" y="76506"/>
                      <a:pt x="10970" y="50022"/>
                      <a:pt x="30496" y="30496"/>
                    </a:cubicBezTo>
                    <a:cubicBezTo>
                      <a:pt x="50022" y="10970"/>
                      <a:pt x="76506" y="0"/>
                      <a:pt x="1041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1840842" cy="85453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1015478" y="314605"/>
              <a:ext cx="7531377" cy="33706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160"/>
                </a:lnSpc>
              </a:pPr>
              <a:r>
                <a:rPr lang="en-US" sz="4000" b="1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IELTSGo Pvt. Ltd.</a:t>
              </a:r>
              <a:endParaRPr lang="en-US" sz="4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  <a:p>
              <a:pPr algn="l">
                <a:lnSpc>
                  <a:spcPts val="4775"/>
                </a:lnSpc>
              </a:pPr>
              <a:r>
                <a:rPr lang="en-US" sz="31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International education and language training organization established in 2003.</a:t>
              </a:r>
              <a:endParaRPr lang="en-US" sz="31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 rot="0">
            <a:off x="9144000" y="2698327"/>
            <a:ext cx="6989446" cy="3099918"/>
            <a:chOff x="0" y="0"/>
            <a:chExt cx="9319261" cy="4133224"/>
          </a:xfrm>
        </p:grpSpPr>
        <p:grpSp>
          <p:nvGrpSpPr>
            <p:cNvPr id="11" name="Group 11"/>
            <p:cNvGrpSpPr/>
            <p:nvPr/>
          </p:nvGrpSpPr>
          <p:grpSpPr>
            <a:xfrm rot="0">
              <a:off x="0" y="0"/>
              <a:ext cx="9319261" cy="4133224"/>
              <a:chOff x="0" y="0"/>
              <a:chExt cx="1840842" cy="816439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840842" cy="816439"/>
              </a:xfrm>
              <a:custGeom>
                <a:avLst/>
                <a:gdLst/>
                <a:ahLst/>
                <a:cxnLst/>
                <a:rect l="l" t="t" r="r" b="b"/>
                <a:pathLst>
                  <a:path w="1840842" h="816439">
                    <a:moveTo>
                      <a:pt x="104120" y="0"/>
                    </a:moveTo>
                    <a:lnTo>
                      <a:pt x="1736722" y="0"/>
                    </a:lnTo>
                    <a:cubicBezTo>
                      <a:pt x="1794226" y="0"/>
                      <a:pt x="1840842" y="46616"/>
                      <a:pt x="1840842" y="104120"/>
                    </a:cubicBezTo>
                    <a:lnTo>
                      <a:pt x="1840842" y="712319"/>
                    </a:lnTo>
                    <a:cubicBezTo>
                      <a:pt x="1840842" y="739934"/>
                      <a:pt x="1829872" y="766417"/>
                      <a:pt x="1810346" y="785943"/>
                    </a:cubicBezTo>
                    <a:cubicBezTo>
                      <a:pt x="1790819" y="805469"/>
                      <a:pt x="1764336" y="816439"/>
                      <a:pt x="1736722" y="816439"/>
                    </a:cubicBezTo>
                    <a:lnTo>
                      <a:pt x="104120" y="816439"/>
                    </a:lnTo>
                    <a:cubicBezTo>
                      <a:pt x="76506" y="816439"/>
                      <a:pt x="50022" y="805469"/>
                      <a:pt x="30496" y="785943"/>
                    </a:cubicBezTo>
                    <a:cubicBezTo>
                      <a:pt x="10970" y="766417"/>
                      <a:pt x="0" y="739934"/>
                      <a:pt x="0" y="712319"/>
                    </a:cubicBezTo>
                    <a:lnTo>
                      <a:pt x="0" y="104120"/>
                    </a:lnTo>
                    <a:cubicBezTo>
                      <a:pt x="0" y="76506"/>
                      <a:pt x="10970" y="50022"/>
                      <a:pt x="30496" y="30496"/>
                    </a:cubicBezTo>
                    <a:cubicBezTo>
                      <a:pt x="50022" y="10970"/>
                      <a:pt x="76506" y="0"/>
                      <a:pt x="1041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38100"/>
                <a:ext cx="1840842" cy="85453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860650" y="598401"/>
              <a:ext cx="8105782" cy="27935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355"/>
                </a:lnSpc>
              </a:pPr>
              <a:r>
                <a:rPr lang="en-US" sz="4125" b="1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Internship Role</a:t>
              </a:r>
              <a:endParaRPr lang="en-US" sz="4125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  <a:p>
              <a:pPr algn="l">
                <a:lnSpc>
                  <a:spcPts val="5390"/>
                </a:lnSpc>
              </a:pPr>
              <a:r>
                <a:rPr lang="en-US" sz="35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UI/UX Design Intern in the UI/UX Design Department.</a:t>
              </a:r>
              <a:endParaRPr lang="en-US" sz="3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 rot="0">
            <a:off x="1028700" y="6352029"/>
            <a:ext cx="5298890" cy="3099918"/>
            <a:chOff x="0" y="0"/>
            <a:chExt cx="7065187" cy="4133224"/>
          </a:xfrm>
        </p:grpSpPr>
        <p:grpSp>
          <p:nvGrpSpPr>
            <p:cNvPr id="16" name="Group 16"/>
            <p:cNvGrpSpPr/>
            <p:nvPr/>
          </p:nvGrpSpPr>
          <p:grpSpPr>
            <a:xfrm rot="0">
              <a:off x="0" y="0"/>
              <a:ext cx="7065187" cy="4133224"/>
              <a:chOff x="0" y="0"/>
              <a:chExt cx="1395592" cy="816439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395592" cy="816439"/>
              </a:xfrm>
              <a:custGeom>
                <a:avLst/>
                <a:gdLst/>
                <a:ahLst/>
                <a:cxnLst/>
                <a:rect l="l" t="t" r="r" b="b"/>
                <a:pathLst>
                  <a:path w="1395592" h="816439">
                    <a:moveTo>
                      <a:pt x="137338" y="0"/>
                    </a:moveTo>
                    <a:lnTo>
                      <a:pt x="1258254" y="0"/>
                    </a:lnTo>
                    <a:cubicBezTo>
                      <a:pt x="1294679" y="0"/>
                      <a:pt x="1329611" y="14470"/>
                      <a:pt x="1355367" y="40225"/>
                    </a:cubicBezTo>
                    <a:cubicBezTo>
                      <a:pt x="1381123" y="65981"/>
                      <a:pt x="1395592" y="100914"/>
                      <a:pt x="1395592" y="137338"/>
                    </a:cubicBezTo>
                    <a:lnTo>
                      <a:pt x="1395592" y="679101"/>
                    </a:lnTo>
                    <a:cubicBezTo>
                      <a:pt x="1395592" y="754951"/>
                      <a:pt x="1334104" y="816439"/>
                      <a:pt x="1258254" y="816439"/>
                    </a:cubicBezTo>
                    <a:lnTo>
                      <a:pt x="137338" y="816439"/>
                    </a:lnTo>
                    <a:cubicBezTo>
                      <a:pt x="61488" y="816439"/>
                      <a:pt x="0" y="754951"/>
                      <a:pt x="0" y="679101"/>
                    </a:cubicBezTo>
                    <a:lnTo>
                      <a:pt x="0" y="137338"/>
                    </a:lnTo>
                    <a:cubicBezTo>
                      <a:pt x="0" y="61488"/>
                      <a:pt x="61488" y="0"/>
                      <a:pt x="13733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1395592" cy="85453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593320" y="204622"/>
              <a:ext cx="5785190" cy="37380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160"/>
                </a:lnSpc>
              </a:pPr>
              <a:r>
                <a:rPr lang="en-US" sz="3800" b="1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Internship Details</a:t>
              </a:r>
              <a:endParaRPr lang="en-US" sz="38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  <a:p>
              <a:pPr algn="ctr">
                <a:lnSpc>
                  <a:spcPts val="5235"/>
                </a:lnSpc>
              </a:pPr>
              <a:r>
                <a:rPr lang="en-US" sz="34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Started: 8 May 2026</a:t>
              </a:r>
              <a:endParaRPr lang="en-US" sz="3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algn="ctr">
                <a:lnSpc>
                  <a:spcPts val="5235"/>
                </a:lnSpc>
              </a:pPr>
              <a:r>
                <a:rPr lang="en-US" sz="34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Monday-Friday</a:t>
              </a:r>
              <a:endParaRPr lang="en-US" sz="3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algn="ctr">
                <a:lnSpc>
                  <a:spcPts val="5235"/>
                </a:lnSpc>
              </a:pPr>
              <a:r>
                <a:rPr lang="en-US" sz="34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11 AM- 6 PM</a:t>
              </a:r>
              <a:endParaRPr lang="en-US" sz="3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 rot="0">
            <a:off x="6658618" y="6352029"/>
            <a:ext cx="6898294" cy="3099918"/>
            <a:chOff x="0" y="0"/>
            <a:chExt cx="9197725" cy="4133224"/>
          </a:xfrm>
        </p:grpSpPr>
        <p:grpSp>
          <p:nvGrpSpPr>
            <p:cNvPr id="21" name="Group 21"/>
            <p:cNvGrpSpPr/>
            <p:nvPr/>
          </p:nvGrpSpPr>
          <p:grpSpPr>
            <a:xfrm rot="0">
              <a:off x="0" y="0"/>
              <a:ext cx="9197725" cy="4133224"/>
              <a:chOff x="0" y="0"/>
              <a:chExt cx="1816835" cy="816439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816835" cy="816439"/>
              </a:xfrm>
              <a:custGeom>
                <a:avLst/>
                <a:gdLst/>
                <a:ahLst/>
                <a:cxnLst/>
                <a:rect l="l" t="t" r="r" b="b"/>
                <a:pathLst>
                  <a:path w="1816835" h="816439">
                    <a:moveTo>
                      <a:pt x="105496" y="0"/>
                    </a:moveTo>
                    <a:lnTo>
                      <a:pt x="1711339" y="0"/>
                    </a:lnTo>
                    <a:cubicBezTo>
                      <a:pt x="1769603" y="0"/>
                      <a:pt x="1816835" y="47232"/>
                      <a:pt x="1816835" y="105496"/>
                    </a:cubicBezTo>
                    <a:lnTo>
                      <a:pt x="1816835" y="710944"/>
                    </a:lnTo>
                    <a:cubicBezTo>
                      <a:pt x="1816835" y="769207"/>
                      <a:pt x="1769603" y="816439"/>
                      <a:pt x="1711339" y="816439"/>
                    </a:cubicBezTo>
                    <a:lnTo>
                      <a:pt x="105496" y="816439"/>
                    </a:lnTo>
                    <a:cubicBezTo>
                      <a:pt x="47232" y="816439"/>
                      <a:pt x="0" y="769207"/>
                      <a:pt x="0" y="710944"/>
                    </a:cubicBezTo>
                    <a:lnTo>
                      <a:pt x="0" y="105496"/>
                    </a:lnTo>
                    <a:cubicBezTo>
                      <a:pt x="0" y="47232"/>
                      <a:pt x="47232" y="0"/>
                      <a:pt x="10549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-38100"/>
                <a:ext cx="1816835" cy="85453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494036" y="331955"/>
              <a:ext cx="8320080" cy="29714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530"/>
                </a:lnSpc>
              </a:pPr>
              <a:r>
                <a:rPr lang="en-US" sz="4240" b="1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Mentorship</a:t>
              </a:r>
              <a:endParaRPr lang="en-US" sz="424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  <a:p>
              <a:pPr algn="ctr">
                <a:lnSpc>
                  <a:spcPts val="5880"/>
                </a:lnSpc>
              </a:pPr>
              <a:r>
                <a:rPr lang="en-US" sz="3815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Mr. Prajwol Chand</a:t>
              </a:r>
              <a:endParaRPr lang="en-US" sz="381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algn="ctr">
                <a:lnSpc>
                  <a:spcPts val="5880"/>
                </a:lnSpc>
              </a:pPr>
              <a:r>
                <a:rPr lang="en-US" sz="3815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ProjectManager/Supervisor.</a:t>
              </a:r>
              <a:endParaRPr lang="en-US" sz="381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 rot="0">
            <a:off x="13581454" y="6352029"/>
            <a:ext cx="4007198" cy="3099918"/>
            <a:chOff x="0" y="0"/>
            <a:chExt cx="5342930" cy="4133224"/>
          </a:xfrm>
        </p:grpSpPr>
        <p:grpSp>
          <p:nvGrpSpPr>
            <p:cNvPr id="26" name="Group 26"/>
            <p:cNvGrpSpPr/>
            <p:nvPr/>
          </p:nvGrpSpPr>
          <p:grpSpPr>
            <a:xfrm rot="0">
              <a:off x="425457" y="0"/>
              <a:ext cx="4492017" cy="4133224"/>
              <a:chOff x="0" y="0"/>
              <a:chExt cx="966549" cy="889348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966550" cy="889348"/>
              </a:xfrm>
              <a:custGeom>
                <a:avLst/>
                <a:gdLst/>
                <a:ahLst/>
                <a:cxnLst/>
                <a:rect l="l" t="t" r="r" b="b"/>
                <a:pathLst>
                  <a:path w="966550" h="889348">
                    <a:moveTo>
                      <a:pt x="160859" y="0"/>
                    </a:moveTo>
                    <a:lnTo>
                      <a:pt x="805691" y="0"/>
                    </a:lnTo>
                    <a:cubicBezTo>
                      <a:pt x="848353" y="0"/>
                      <a:pt x="889268" y="16948"/>
                      <a:pt x="919435" y="47114"/>
                    </a:cubicBezTo>
                    <a:cubicBezTo>
                      <a:pt x="949602" y="77281"/>
                      <a:pt x="966550" y="118196"/>
                      <a:pt x="966550" y="160859"/>
                    </a:cubicBezTo>
                    <a:lnTo>
                      <a:pt x="966550" y="728489"/>
                    </a:lnTo>
                    <a:cubicBezTo>
                      <a:pt x="966550" y="817329"/>
                      <a:pt x="894531" y="889348"/>
                      <a:pt x="805691" y="889348"/>
                    </a:cubicBezTo>
                    <a:lnTo>
                      <a:pt x="160859" y="889348"/>
                    </a:lnTo>
                    <a:cubicBezTo>
                      <a:pt x="72019" y="889348"/>
                      <a:pt x="0" y="817329"/>
                      <a:pt x="0" y="728489"/>
                    </a:cubicBezTo>
                    <a:lnTo>
                      <a:pt x="0" y="160859"/>
                    </a:lnTo>
                    <a:cubicBezTo>
                      <a:pt x="0" y="72019"/>
                      <a:pt x="72019" y="0"/>
                      <a:pt x="16085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0" y="-38100"/>
                <a:ext cx="966549" cy="927448"/>
              </a:xfrm>
              <a:prstGeom prst="rect">
                <a:avLst/>
              </a:prstGeom>
            </p:spPr>
            <p:txBody>
              <a:bodyPr lIns="46635" tIns="46635" rIns="46635" bIns="46635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0" y="1276216"/>
              <a:ext cx="5342930" cy="18390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705"/>
                </a:lnSpc>
              </a:pPr>
              <a:r>
                <a:rPr lang="en-US" sz="3705" b="1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Primary Tool</a:t>
              </a:r>
              <a:endParaRPr lang="en-US" sz="3705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  <a:p>
              <a:pPr algn="ctr">
                <a:lnSpc>
                  <a:spcPts val="5705"/>
                </a:lnSpc>
              </a:pPr>
              <a:r>
                <a:rPr lang="en-US" sz="3705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Figma</a:t>
              </a:r>
              <a:endParaRPr lang="en-US" sz="370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30" name="PageNumber"/>
          <p:cNvSpPr txBox="1"/>
          <p:nvPr/>
        </p:nvSpPr>
        <p:spPr>
          <a:xfrm>
            <a:off x="8964295" y="9784017"/>
            <a:ext cx="359410" cy="47561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>
                <a:solidFill>
                  <a:srgbClr val="5A5A5A"/>
                </a:solidFill>
                <a:latin typeface="Arial" panose="020B0604020202020204"/>
              </a:rPr>
              <a:t>2</a:t>
            </a:r>
            <a:endParaRPr sz="2500">
              <a:solidFill>
                <a:srgbClr val="5A5A5A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23336" y="-571202"/>
            <a:ext cx="3570012" cy="1142404"/>
          </a:xfrm>
          <a:custGeom>
            <a:avLst/>
            <a:gdLst/>
            <a:ahLst/>
            <a:cxnLst/>
            <a:rect l="l" t="t" r="r" b="b"/>
            <a:pathLst>
              <a:path w="3570012" h="1142404">
                <a:moveTo>
                  <a:pt x="0" y="0"/>
                </a:moveTo>
                <a:lnTo>
                  <a:pt x="3570012" y="0"/>
                </a:lnTo>
                <a:lnTo>
                  <a:pt x="3570012" y="1142404"/>
                </a:lnTo>
                <a:lnTo>
                  <a:pt x="0" y="1142404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29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3" name="Freeform 3"/>
          <p:cNvSpPr/>
          <p:nvPr/>
        </p:nvSpPr>
        <p:spPr>
          <a:xfrm>
            <a:off x="-19873" y="9951457"/>
            <a:ext cx="2097146" cy="671087"/>
          </a:xfrm>
          <a:custGeom>
            <a:avLst/>
            <a:gdLst/>
            <a:ahLst/>
            <a:cxnLst/>
            <a:rect l="l" t="t" r="r" b="b"/>
            <a:pathLst>
              <a:path w="2097146" h="671087">
                <a:moveTo>
                  <a:pt x="0" y="0"/>
                </a:moveTo>
                <a:lnTo>
                  <a:pt x="2097146" y="0"/>
                </a:lnTo>
                <a:lnTo>
                  <a:pt x="2097146" y="671086"/>
                </a:lnTo>
                <a:lnTo>
                  <a:pt x="0" y="67108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29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5" name="TextBox 5"/>
          <p:cNvSpPr txBox="1"/>
          <p:nvPr/>
        </p:nvSpPr>
        <p:spPr>
          <a:xfrm>
            <a:off x="4318686" y="531642"/>
            <a:ext cx="12940614" cy="1612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00"/>
              </a:lnSpc>
            </a:pPr>
            <a:r>
              <a:rPr lang="en-US" sz="8500" spc="152">
                <a:solidFill>
                  <a:srgbClr val="F26934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rPr>
              <a:t>Organization Hierarchy</a:t>
            </a:r>
            <a:endParaRPr lang="en-US" sz="8500" spc="152">
              <a:solidFill>
                <a:srgbClr val="F26934"/>
              </a:solidFill>
              <a:latin typeface="Impact" panose="020B0806030902050204"/>
              <a:ea typeface="Impact" panose="020B0806030902050204"/>
              <a:cs typeface="Impact" panose="020B0806030902050204"/>
              <a:sym typeface="Impact" panose="020B0806030902050204"/>
            </a:endParaRPr>
          </a:p>
        </p:txBody>
      </p:sp>
      <p:pic>
        <p:nvPicPr>
          <p:cNvPr id="16" name="Picture 16" descr="O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635" y="2541270"/>
            <a:ext cx="10386060" cy="7142480"/>
          </a:xfrm>
          <a:prstGeom prst="rect">
            <a:avLst/>
          </a:prstGeom>
        </p:spPr>
      </p:pic>
      <p:sp>
        <p:nvSpPr>
          <p:cNvPr id="17" name="PageNumber"/>
          <p:cNvSpPr txBox="1"/>
          <p:nvPr/>
        </p:nvSpPr>
        <p:spPr>
          <a:xfrm>
            <a:off x="8964295" y="9784017"/>
            <a:ext cx="359410" cy="47561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>
                <a:solidFill>
                  <a:srgbClr val="5A5A5A"/>
                </a:solidFill>
                <a:latin typeface="Arial" panose="020B0604020202020204"/>
              </a:rPr>
              <a:t>3</a:t>
            </a:r>
            <a:endParaRPr sz="2500">
              <a:solidFill>
                <a:srgbClr val="5A5A5A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9834985"/>
            <a:ext cx="18769279" cy="904030"/>
            <a:chOff x="0" y="0"/>
            <a:chExt cx="4943349" cy="2380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43349" cy="238098"/>
            </a:xfrm>
            <a:custGeom>
              <a:avLst/>
              <a:gdLst/>
              <a:ahLst/>
              <a:cxnLst/>
              <a:rect l="l" t="t" r="r" b="b"/>
              <a:pathLst>
                <a:path w="4943349" h="238098">
                  <a:moveTo>
                    <a:pt x="0" y="0"/>
                  </a:moveTo>
                  <a:lnTo>
                    <a:pt x="4943349" y="0"/>
                  </a:lnTo>
                  <a:lnTo>
                    <a:pt x="4943349" y="238098"/>
                  </a:lnTo>
                  <a:lnTo>
                    <a:pt x="0" y="238098"/>
                  </a:lnTo>
                  <a:close/>
                </a:path>
              </a:pathLst>
            </a:custGeom>
            <a:solidFill>
              <a:srgbClr val="F2693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943349" cy="2761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-1135102" y="1028700"/>
            <a:ext cx="3433677" cy="1098777"/>
          </a:xfrm>
          <a:custGeom>
            <a:avLst/>
            <a:gdLst/>
            <a:ahLst/>
            <a:cxnLst/>
            <a:rect l="l" t="t" r="r" b="b"/>
            <a:pathLst>
              <a:path w="3433677" h="1098777">
                <a:moveTo>
                  <a:pt x="0" y="0"/>
                </a:moveTo>
                <a:lnTo>
                  <a:pt x="3433677" y="0"/>
                </a:lnTo>
                <a:lnTo>
                  <a:pt x="3433677" y="1098777"/>
                </a:lnTo>
                <a:lnTo>
                  <a:pt x="0" y="1098777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29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6" name="Freeform 6"/>
          <p:cNvSpPr/>
          <p:nvPr/>
        </p:nvSpPr>
        <p:spPr>
          <a:xfrm rot="-5400000">
            <a:off x="17005414" y="7885739"/>
            <a:ext cx="2672523" cy="855207"/>
          </a:xfrm>
          <a:custGeom>
            <a:avLst/>
            <a:gdLst/>
            <a:ahLst/>
            <a:cxnLst/>
            <a:rect l="l" t="t" r="r" b="b"/>
            <a:pathLst>
              <a:path w="2672523" h="855207">
                <a:moveTo>
                  <a:pt x="0" y="0"/>
                </a:moveTo>
                <a:lnTo>
                  <a:pt x="2672523" y="0"/>
                </a:lnTo>
                <a:lnTo>
                  <a:pt x="2672523" y="855208"/>
                </a:lnTo>
                <a:lnTo>
                  <a:pt x="0" y="855208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29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7" name="TextBox 7"/>
          <p:cNvSpPr txBox="1"/>
          <p:nvPr/>
        </p:nvSpPr>
        <p:spPr>
          <a:xfrm>
            <a:off x="2525836" y="641099"/>
            <a:ext cx="13236329" cy="1525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00"/>
              </a:lnSpc>
            </a:pPr>
            <a:r>
              <a:rPr lang="en-US" sz="6500">
                <a:solidFill>
                  <a:srgbClr val="F26934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rPr>
              <a:t>Problem Statement &amp; Objectives</a:t>
            </a:r>
            <a:endParaRPr lang="en-US" sz="6500">
              <a:solidFill>
                <a:srgbClr val="F26934"/>
              </a:solidFill>
              <a:latin typeface="Impact" panose="020B0806030902050204"/>
              <a:ea typeface="Impact" panose="020B0806030902050204"/>
              <a:cs typeface="Impact" panose="020B0806030902050204"/>
              <a:sym typeface="Impact" panose="020B080603090205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525836" y="2696001"/>
            <a:ext cx="6214781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  <a:spcBef>
                <a:spcPct val="0"/>
              </a:spcBef>
            </a:pPr>
            <a:r>
              <a:rPr lang="en-US" sz="48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Problem Statement</a:t>
            </a:r>
            <a:endParaRPr lang="en-US" sz="4800" b="1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grpSp>
        <p:nvGrpSpPr>
          <p:cNvPr id="9" name="Group 9"/>
          <p:cNvGrpSpPr/>
          <p:nvPr/>
        </p:nvGrpSpPr>
        <p:grpSpPr>
          <a:xfrm rot="0">
            <a:off x="2298575" y="4036413"/>
            <a:ext cx="13952711" cy="3742058"/>
            <a:chOff x="0" y="0"/>
            <a:chExt cx="3636926" cy="97540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636926" cy="975408"/>
            </a:xfrm>
            <a:custGeom>
              <a:avLst/>
              <a:gdLst/>
              <a:ahLst/>
              <a:cxnLst/>
              <a:rect l="l" t="t" r="r" b="b"/>
              <a:pathLst>
                <a:path w="3636926" h="975408">
                  <a:moveTo>
                    <a:pt x="28298" y="0"/>
                  </a:moveTo>
                  <a:lnTo>
                    <a:pt x="3608628" y="0"/>
                  </a:lnTo>
                  <a:cubicBezTo>
                    <a:pt x="3616133" y="0"/>
                    <a:pt x="3623331" y="2981"/>
                    <a:pt x="3628638" y="8288"/>
                  </a:cubicBezTo>
                  <a:cubicBezTo>
                    <a:pt x="3633945" y="13595"/>
                    <a:pt x="3636926" y="20793"/>
                    <a:pt x="3636926" y="28298"/>
                  </a:cubicBezTo>
                  <a:lnTo>
                    <a:pt x="3636926" y="947110"/>
                  </a:lnTo>
                  <a:cubicBezTo>
                    <a:pt x="3636926" y="954615"/>
                    <a:pt x="3633945" y="961813"/>
                    <a:pt x="3628638" y="967120"/>
                  </a:cubicBezTo>
                  <a:cubicBezTo>
                    <a:pt x="3623331" y="972427"/>
                    <a:pt x="3616133" y="975408"/>
                    <a:pt x="3608628" y="975408"/>
                  </a:cubicBezTo>
                  <a:lnTo>
                    <a:pt x="28298" y="975408"/>
                  </a:lnTo>
                  <a:cubicBezTo>
                    <a:pt x="20793" y="975408"/>
                    <a:pt x="13595" y="972427"/>
                    <a:pt x="8288" y="967120"/>
                  </a:cubicBezTo>
                  <a:cubicBezTo>
                    <a:pt x="2981" y="961813"/>
                    <a:pt x="0" y="954615"/>
                    <a:pt x="0" y="947110"/>
                  </a:cubicBezTo>
                  <a:lnTo>
                    <a:pt x="0" y="28298"/>
                  </a:lnTo>
                  <a:cubicBezTo>
                    <a:pt x="0" y="20793"/>
                    <a:pt x="2981" y="13595"/>
                    <a:pt x="8288" y="8288"/>
                  </a:cubicBezTo>
                  <a:cubicBezTo>
                    <a:pt x="13595" y="2981"/>
                    <a:pt x="20793" y="0"/>
                    <a:pt x="2829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636926" cy="1013508"/>
            </a:xfrm>
            <a:prstGeom prst="rect">
              <a:avLst/>
            </a:prstGeom>
          </p:spPr>
          <p:txBody>
            <a:bodyPr lIns="52438" tIns="52438" rIns="52438" bIns="52438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161294" y="4637442"/>
            <a:ext cx="12227273" cy="246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Poor usability can result from complicated layouts, unclear navigation and inconsistent interfaces. The project fouces on creating an intuitive UI/UX that improves usability while maintaining visual consistency and aesthetic appeal.</a:t>
            </a:r>
            <a:endParaRPr lang="en-US" sz="35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" name="PageNumber"/>
          <p:cNvSpPr txBox="1"/>
          <p:nvPr/>
        </p:nvSpPr>
        <p:spPr>
          <a:xfrm>
            <a:off x="8964295" y="9784017"/>
            <a:ext cx="359410" cy="47561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>
                <a:solidFill>
                  <a:srgbClr val="5A5A5A"/>
                </a:solidFill>
                <a:latin typeface="Arial" panose="020B0604020202020204"/>
              </a:rPr>
              <a:t>4</a:t>
            </a:r>
            <a:endParaRPr sz="2500">
              <a:solidFill>
                <a:srgbClr val="5A5A5A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9834985"/>
            <a:ext cx="18769279" cy="904030"/>
            <a:chOff x="0" y="0"/>
            <a:chExt cx="4943349" cy="2380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43349" cy="238098"/>
            </a:xfrm>
            <a:custGeom>
              <a:avLst/>
              <a:gdLst/>
              <a:ahLst/>
              <a:cxnLst/>
              <a:rect l="l" t="t" r="r" b="b"/>
              <a:pathLst>
                <a:path w="4943349" h="238098">
                  <a:moveTo>
                    <a:pt x="0" y="0"/>
                  </a:moveTo>
                  <a:lnTo>
                    <a:pt x="4943349" y="0"/>
                  </a:lnTo>
                  <a:lnTo>
                    <a:pt x="4943349" y="238098"/>
                  </a:lnTo>
                  <a:lnTo>
                    <a:pt x="0" y="238098"/>
                  </a:lnTo>
                  <a:close/>
                </a:path>
              </a:pathLst>
            </a:custGeom>
            <a:solidFill>
              <a:srgbClr val="F2693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943349" cy="2761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-1135102" y="1028700"/>
            <a:ext cx="3433677" cy="1098777"/>
          </a:xfrm>
          <a:custGeom>
            <a:avLst/>
            <a:gdLst/>
            <a:ahLst/>
            <a:cxnLst/>
            <a:rect l="l" t="t" r="r" b="b"/>
            <a:pathLst>
              <a:path w="3433677" h="1098777">
                <a:moveTo>
                  <a:pt x="0" y="0"/>
                </a:moveTo>
                <a:lnTo>
                  <a:pt x="3433677" y="0"/>
                </a:lnTo>
                <a:lnTo>
                  <a:pt x="3433677" y="1098777"/>
                </a:lnTo>
                <a:lnTo>
                  <a:pt x="0" y="1098777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29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6" name="Freeform 6"/>
          <p:cNvSpPr/>
          <p:nvPr/>
        </p:nvSpPr>
        <p:spPr>
          <a:xfrm rot="-5400000">
            <a:off x="17005414" y="7885739"/>
            <a:ext cx="2672523" cy="855207"/>
          </a:xfrm>
          <a:custGeom>
            <a:avLst/>
            <a:gdLst/>
            <a:ahLst/>
            <a:cxnLst/>
            <a:rect l="l" t="t" r="r" b="b"/>
            <a:pathLst>
              <a:path w="2672523" h="855207">
                <a:moveTo>
                  <a:pt x="0" y="0"/>
                </a:moveTo>
                <a:lnTo>
                  <a:pt x="2672523" y="0"/>
                </a:lnTo>
                <a:lnTo>
                  <a:pt x="2672523" y="855208"/>
                </a:lnTo>
                <a:lnTo>
                  <a:pt x="0" y="855208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29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7" name="TextBox 7"/>
          <p:cNvSpPr txBox="1"/>
          <p:nvPr/>
        </p:nvSpPr>
        <p:spPr>
          <a:xfrm>
            <a:off x="2525836" y="641099"/>
            <a:ext cx="13236329" cy="1525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00"/>
              </a:lnSpc>
            </a:pPr>
            <a:r>
              <a:rPr lang="en-US" sz="6500">
                <a:solidFill>
                  <a:srgbClr val="F26934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rPr>
              <a:t>Problem Statement &amp; Objectives</a:t>
            </a:r>
            <a:endParaRPr lang="en-US" sz="6500">
              <a:solidFill>
                <a:srgbClr val="F26934"/>
              </a:solidFill>
              <a:latin typeface="Impact" panose="020B0806030902050204"/>
              <a:ea typeface="Impact" panose="020B0806030902050204"/>
              <a:cs typeface="Impact" panose="020B0806030902050204"/>
              <a:sym typeface="Impact" panose="020B080603090205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525836" y="2696001"/>
            <a:ext cx="4095148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  <a:spcBef>
                <a:spcPct val="0"/>
              </a:spcBef>
            </a:pPr>
            <a:r>
              <a:rPr lang="en-US" sz="48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Objectives</a:t>
            </a:r>
            <a:endParaRPr lang="en-US" sz="4800" b="1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grpSp>
        <p:nvGrpSpPr>
          <p:cNvPr id="9" name="Group 9"/>
          <p:cNvGrpSpPr/>
          <p:nvPr/>
        </p:nvGrpSpPr>
        <p:grpSpPr>
          <a:xfrm rot="0">
            <a:off x="7373747" y="3517056"/>
            <a:ext cx="9516269" cy="5774723"/>
            <a:chOff x="0" y="0"/>
            <a:chExt cx="12688358" cy="7699631"/>
          </a:xfrm>
        </p:grpSpPr>
        <p:grpSp>
          <p:nvGrpSpPr>
            <p:cNvPr id="10" name="Group 10"/>
            <p:cNvGrpSpPr/>
            <p:nvPr/>
          </p:nvGrpSpPr>
          <p:grpSpPr>
            <a:xfrm rot="0">
              <a:off x="0" y="0"/>
              <a:ext cx="12688358" cy="7699631"/>
              <a:chOff x="0" y="0"/>
              <a:chExt cx="2480519" cy="1505245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2480519" cy="1505245"/>
              </a:xfrm>
              <a:custGeom>
                <a:avLst/>
                <a:gdLst/>
                <a:ahLst/>
                <a:cxnLst/>
                <a:rect l="l" t="t" r="r" b="b"/>
                <a:pathLst>
                  <a:path w="2480519" h="1505245">
                    <a:moveTo>
                      <a:pt x="41491" y="0"/>
                    </a:moveTo>
                    <a:lnTo>
                      <a:pt x="2439028" y="0"/>
                    </a:lnTo>
                    <a:cubicBezTo>
                      <a:pt x="2461943" y="0"/>
                      <a:pt x="2480519" y="18576"/>
                      <a:pt x="2480519" y="41491"/>
                    </a:cubicBezTo>
                    <a:lnTo>
                      <a:pt x="2480519" y="1463754"/>
                    </a:lnTo>
                    <a:cubicBezTo>
                      <a:pt x="2480519" y="1486668"/>
                      <a:pt x="2461943" y="1505245"/>
                      <a:pt x="2439028" y="1505245"/>
                    </a:cubicBezTo>
                    <a:lnTo>
                      <a:pt x="41491" y="1505245"/>
                    </a:lnTo>
                    <a:cubicBezTo>
                      <a:pt x="18576" y="1505245"/>
                      <a:pt x="0" y="1486668"/>
                      <a:pt x="0" y="1463754"/>
                    </a:cubicBezTo>
                    <a:lnTo>
                      <a:pt x="0" y="41491"/>
                    </a:lnTo>
                    <a:cubicBezTo>
                      <a:pt x="0" y="18576"/>
                      <a:pt x="18576" y="0"/>
                      <a:pt x="4149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2480519" cy="1543345"/>
              </a:xfrm>
              <a:prstGeom prst="rect">
                <a:avLst/>
              </a:prstGeom>
            </p:spPr>
            <p:txBody>
              <a:bodyPr lIns="52438" tIns="52438" rIns="52438" bIns="52438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0" y="416738"/>
              <a:ext cx="12479856" cy="70595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820420" lvl="1" indent="-410210" algn="just">
                <a:lnSpc>
                  <a:spcPts val="5320"/>
                </a:lnSpc>
                <a:buFont typeface="Arial" panose="020B0604020202020204"/>
                <a:buChar char="•"/>
              </a:pPr>
              <a:r>
                <a:rPr lang="en-US" sz="38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Apply UI/UX principles in a real project</a:t>
              </a:r>
              <a:endParaRPr lang="en-US" sz="3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820420" lvl="1" indent="-410210" algn="just">
                <a:lnSpc>
                  <a:spcPts val="5320"/>
                </a:lnSpc>
                <a:buFont typeface="Arial" panose="020B0604020202020204"/>
                <a:buChar char="•"/>
              </a:pPr>
              <a:r>
                <a:rPr lang="en-US" sz="38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Understand user-centered design</a:t>
              </a:r>
              <a:endParaRPr lang="en-US" sz="3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820420" lvl="1" indent="-410210" algn="just">
                <a:lnSpc>
                  <a:spcPts val="5320"/>
                </a:lnSpc>
                <a:buFont typeface="Arial" panose="020B0604020202020204"/>
                <a:buChar char="•"/>
              </a:pPr>
              <a:r>
                <a:rPr lang="en-US" sz="38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Create user flows, wireframes and prototypes</a:t>
              </a:r>
              <a:endParaRPr lang="en-US" sz="3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820420" lvl="1" indent="-410210" algn="just">
                <a:lnSpc>
                  <a:spcPts val="5320"/>
                </a:lnSpc>
                <a:buFont typeface="Arial" panose="020B0604020202020204"/>
                <a:buChar char="•"/>
              </a:pPr>
              <a:r>
                <a:rPr lang="en-US" sz="38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Design consistent high-fidelity interfaces in Figma</a:t>
              </a:r>
              <a:endParaRPr lang="en-US" sz="3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820420" lvl="1" indent="-410210" algn="just">
                <a:lnSpc>
                  <a:spcPts val="5320"/>
                </a:lnSpc>
                <a:buFont typeface="Arial" panose="020B0604020202020204"/>
                <a:buChar char="•"/>
              </a:pPr>
              <a:r>
                <a:rPr lang="en-US" sz="38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Improve usability and accessibility</a:t>
              </a:r>
              <a:endParaRPr lang="en-US" sz="3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4" name="Freeform 14"/>
          <p:cNvSpPr/>
          <p:nvPr/>
        </p:nvSpPr>
        <p:spPr>
          <a:xfrm>
            <a:off x="2525836" y="4050456"/>
            <a:ext cx="4678002" cy="4567431"/>
          </a:xfrm>
          <a:custGeom>
            <a:avLst/>
            <a:gdLst/>
            <a:ahLst/>
            <a:cxnLst/>
            <a:rect l="l" t="t" r="r" b="b"/>
            <a:pathLst>
              <a:path w="4678002" h="4567431">
                <a:moveTo>
                  <a:pt x="0" y="0"/>
                </a:moveTo>
                <a:lnTo>
                  <a:pt x="4678002" y="0"/>
                </a:lnTo>
                <a:lnTo>
                  <a:pt x="4678002" y="4567431"/>
                </a:lnTo>
                <a:lnTo>
                  <a:pt x="0" y="45674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15" name="PageNumber"/>
          <p:cNvSpPr txBox="1"/>
          <p:nvPr/>
        </p:nvSpPr>
        <p:spPr>
          <a:xfrm>
            <a:off x="8964295" y="9784017"/>
            <a:ext cx="359410" cy="47561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>
                <a:solidFill>
                  <a:srgbClr val="5A5A5A"/>
                </a:solidFill>
                <a:latin typeface="Arial" panose="020B0604020202020204"/>
              </a:rPr>
              <a:t>5</a:t>
            </a:r>
            <a:endParaRPr sz="2500">
              <a:solidFill>
                <a:srgbClr val="5A5A5A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9834985"/>
            <a:ext cx="18769279" cy="904030"/>
            <a:chOff x="0" y="0"/>
            <a:chExt cx="4943349" cy="2380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43349" cy="238098"/>
            </a:xfrm>
            <a:custGeom>
              <a:avLst/>
              <a:gdLst/>
              <a:ahLst/>
              <a:cxnLst/>
              <a:rect l="l" t="t" r="r" b="b"/>
              <a:pathLst>
                <a:path w="4943349" h="238098">
                  <a:moveTo>
                    <a:pt x="0" y="0"/>
                  </a:moveTo>
                  <a:lnTo>
                    <a:pt x="4943349" y="0"/>
                  </a:lnTo>
                  <a:lnTo>
                    <a:pt x="4943349" y="238098"/>
                  </a:lnTo>
                  <a:lnTo>
                    <a:pt x="0" y="238098"/>
                  </a:lnTo>
                  <a:close/>
                </a:path>
              </a:pathLst>
            </a:custGeom>
            <a:solidFill>
              <a:srgbClr val="F2693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943349" cy="2761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-1135102" y="1028700"/>
            <a:ext cx="3433677" cy="1098777"/>
          </a:xfrm>
          <a:custGeom>
            <a:avLst/>
            <a:gdLst/>
            <a:ahLst/>
            <a:cxnLst/>
            <a:rect l="l" t="t" r="r" b="b"/>
            <a:pathLst>
              <a:path w="3433677" h="1098777">
                <a:moveTo>
                  <a:pt x="0" y="0"/>
                </a:moveTo>
                <a:lnTo>
                  <a:pt x="3433677" y="0"/>
                </a:lnTo>
                <a:lnTo>
                  <a:pt x="3433677" y="1098777"/>
                </a:lnTo>
                <a:lnTo>
                  <a:pt x="0" y="1098777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29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6" name="Freeform 6"/>
          <p:cNvSpPr/>
          <p:nvPr/>
        </p:nvSpPr>
        <p:spPr>
          <a:xfrm rot="-5400000">
            <a:off x="17005414" y="7885739"/>
            <a:ext cx="2672523" cy="855207"/>
          </a:xfrm>
          <a:custGeom>
            <a:avLst/>
            <a:gdLst/>
            <a:ahLst/>
            <a:cxnLst/>
            <a:rect l="l" t="t" r="r" b="b"/>
            <a:pathLst>
              <a:path w="2672523" h="855207">
                <a:moveTo>
                  <a:pt x="0" y="0"/>
                </a:moveTo>
                <a:lnTo>
                  <a:pt x="2672523" y="0"/>
                </a:lnTo>
                <a:lnTo>
                  <a:pt x="2672523" y="855208"/>
                </a:lnTo>
                <a:lnTo>
                  <a:pt x="0" y="855208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29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7" name="TextBox 7"/>
          <p:cNvSpPr txBox="1"/>
          <p:nvPr/>
        </p:nvSpPr>
        <p:spPr>
          <a:xfrm>
            <a:off x="2459169" y="446363"/>
            <a:ext cx="14035128" cy="2397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>
                <a:solidFill>
                  <a:srgbClr val="F26934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rPr>
              <a:t>Major Project</a:t>
            </a:r>
            <a:endParaRPr lang="en-US" sz="6500">
              <a:solidFill>
                <a:srgbClr val="F26934"/>
              </a:solidFill>
              <a:latin typeface="Impact" panose="020B0806030902050204"/>
              <a:ea typeface="Impact" panose="020B0806030902050204"/>
              <a:cs typeface="Impact" panose="020B0806030902050204"/>
              <a:sym typeface="Impact" panose="020B0806030902050204"/>
            </a:endParaRPr>
          </a:p>
          <a:p>
            <a:pPr algn="ctr">
              <a:lnSpc>
                <a:spcPts val="9100"/>
              </a:lnSpc>
            </a:pPr>
            <a:r>
              <a:rPr lang="en-US" sz="6500">
                <a:solidFill>
                  <a:srgbClr val="F26934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rPr>
              <a:t>Coffee Shop Mobile Application</a:t>
            </a:r>
            <a:endParaRPr lang="en-US" sz="6500">
              <a:solidFill>
                <a:srgbClr val="F26934"/>
              </a:solidFill>
              <a:latin typeface="Impact" panose="020B0806030902050204"/>
              <a:ea typeface="Impact" panose="020B0806030902050204"/>
              <a:cs typeface="Impact" panose="020B0806030902050204"/>
              <a:sym typeface="Impact" panose="020B0806030902050204"/>
            </a:endParaRPr>
          </a:p>
        </p:txBody>
      </p:sp>
      <p:grpSp>
        <p:nvGrpSpPr>
          <p:cNvPr id="8" name="Group 8"/>
          <p:cNvGrpSpPr/>
          <p:nvPr/>
        </p:nvGrpSpPr>
        <p:grpSpPr>
          <a:xfrm rot="0">
            <a:off x="2298575" y="2843488"/>
            <a:ext cx="14700594" cy="6176543"/>
            <a:chOff x="0" y="0"/>
            <a:chExt cx="19600792" cy="8235390"/>
          </a:xfrm>
        </p:grpSpPr>
        <p:grpSp>
          <p:nvGrpSpPr>
            <p:cNvPr id="9" name="Group 9"/>
            <p:cNvGrpSpPr/>
            <p:nvPr/>
          </p:nvGrpSpPr>
          <p:grpSpPr>
            <a:xfrm rot="0">
              <a:off x="0" y="0"/>
              <a:ext cx="19600792" cy="8235390"/>
              <a:chOff x="0" y="0"/>
              <a:chExt cx="3831870" cy="1609983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3831870" cy="1609983"/>
              </a:xfrm>
              <a:custGeom>
                <a:avLst/>
                <a:gdLst/>
                <a:ahLst/>
                <a:cxnLst/>
                <a:rect l="l" t="t" r="r" b="b"/>
                <a:pathLst>
                  <a:path w="3831870" h="1609983">
                    <a:moveTo>
                      <a:pt x="26859" y="0"/>
                    </a:moveTo>
                    <a:lnTo>
                      <a:pt x="3805012" y="0"/>
                    </a:lnTo>
                    <a:cubicBezTo>
                      <a:pt x="3812135" y="0"/>
                      <a:pt x="3818967" y="2830"/>
                      <a:pt x="3824004" y="7867"/>
                    </a:cubicBezTo>
                    <a:cubicBezTo>
                      <a:pt x="3829041" y="12904"/>
                      <a:pt x="3831870" y="19735"/>
                      <a:pt x="3831870" y="26859"/>
                    </a:cubicBezTo>
                    <a:lnTo>
                      <a:pt x="3831870" y="1583125"/>
                    </a:lnTo>
                    <a:cubicBezTo>
                      <a:pt x="3831870" y="1590248"/>
                      <a:pt x="3829041" y="1597080"/>
                      <a:pt x="3824004" y="1602117"/>
                    </a:cubicBezTo>
                    <a:cubicBezTo>
                      <a:pt x="3818967" y="1607153"/>
                      <a:pt x="3812135" y="1609983"/>
                      <a:pt x="3805012" y="1609983"/>
                    </a:cubicBezTo>
                    <a:lnTo>
                      <a:pt x="26859" y="1609983"/>
                    </a:lnTo>
                    <a:cubicBezTo>
                      <a:pt x="12025" y="1609983"/>
                      <a:pt x="0" y="1597958"/>
                      <a:pt x="0" y="1583125"/>
                    </a:cubicBezTo>
                    <a:lnTo>
                      <a:pt x="0" y="26859"/>
                    </a:lnTo>
                    <a:cubicBezTo>
                      <a:pt x="0" y="19735"/>
                      <a:pt x="2830" y="12904"/>
                      <a:pt x="7867" y="7867"/>
                    </a:cubicBezTo>
                    <a:cubicBezTo>
                      <a:pt x="12904" y="2830"/>
                      <a:pt x="19735" y="0"/>
                      <a:pt x="2685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3831870" cy="1648083"/>
              </a:xfrm>
              <a:prstGeom prst="rect">
                <a:avLst/>
              </a:prstGeom>
            </p:spPr>
            <p:txBody>
              <a:bodyPr lIns="52438" tIns="52438" rIns="52438" bIns="52438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229519" y="662448"/>
              <a:ext cx="19016518" cy="70595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820420" lvl="1" indent="-410210" algn="just">
                <a:lnSpc>
                  <a:spcPts val="5320"/>
                </a:lnSpc>
                <a:buFont typeface="Arial" panose="020B0604020202020204"/>
                <a:buChar char="•"/>
              </a:pPr>
              <a:r>
                <a:rPr lang="en-US" sz="38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Goal: create a modern, user-friendly and visually appealing coffe shop mobile experience.</a:t>
              </a:r>
              <a:endParaRPr lang="en-US" sz="3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820420" lvl="1" indent="-410210" algn="just">
                <a:lnSpc>
                  <a:spcPts val="5320"/>
                </a:lnSpc>
                <a:buFont typeface="Arial" panose="020B0604020202020204"/>
                <a:buChar char="•"/>
              </a:pPr>
              <a:r>
                <a:rPr lang="en-US" sz="38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Users Experience: Allows users to browse products, customize orders and place orders conveniently.</a:t>
              </a:r>
              <a:endParaRPr lang="en-US" sz="3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820420" lvl="1" indent="-410210" algn="just">
                <a:lnSpc>
                  <a:spcPts val="5320"/>
                </a:lnSpc>
                <a:buFont typeface="Arial" panose="020B0604020202020204"/>
                <a:buChar char="•"/>
              </a:pPr>
              <a:r>
                <a:rPr lang="en-US" sz="38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Design </a:t>
              </a:r>
              <a:r>
                <a:rPr lang="en-US" sz="38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Focus : simple navigation, visual consistency, usability and clear user flows.</a:t>
              </a:r>
              <a:endParaRPr lang="en-US" sz="3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820420" lvl="1" indent="-410210" algn="just">
                <a:lnSpc>
                  <a:spcPts val="5320"/>
                </a:lnSpc>
                <a:buFont typeface="Arial" panose="020B0604020202020204"/>
                <a:buChar char="•"/>
              </a:pPr>
              <a:r>
                <a:rPr lang="en-US" sz="38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Deliverable: High-fidelity model UI and interactive prototype developed in Figma.</a:t>
              </a:r>
              <a:endParaRPr lang="en-US" sz="3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3" name="PageNumber"/>
          <p:cNvSpPr txBox="1"/>
          <p:nvPr/>
        </p:nvSpPr>
        <p:spPr>
          <a:xfrm>
            <a:off x="8964295" y="9784017"/>
            <a:ext cx="359410" cy="47561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>
                <a:solidFill>
                  <a:srgbClr val="5A5A5A"/>
                </a:solidFill>
                <a:latin typeface="Arial" panose="020B0604020202020204"/>
              </a:rPr>
              <a:t>6</a:t>
            </a:r>
            <a:endParaRPr sz="2500">
              <a:solidFill>
                <a:srgbClr val="5A5A5A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063822" y="1028700"/>
            <a:ext cx="3083434" cy="8229600"/>
          </a:xfrm>
          <a:custGeom>
            <a:avLst/>
            <a:gdLst/>
            <a:ahLst/>
            <a:cxnLst/>
            <a:rect l="l" t="t" r="r" b="b"/>
            <a:pathLst>
              <a:path w="3083434" h="8229600">
                <a:moveTo>
                  <a:pt x="0" y="0"/>
                </a:moveTo>
                <a:lnTo>
                  <a:pt x="3083434" y="0"/>
                </a:lnTo>
                <a:lnTo>
                  <a:pt x="308343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376" b="-376"/>
            </a:stretch>
          </a:blipFill>
        </p:spPr>
        <p:txBody>
          <a:bodyPr/>
          <a:p/>
        </p:txBody>
      </p:sp>
      <p:sp>
        <p:nvSpPr>
          <p:cNvPr id="3" name="Freeform 3"/>
          <p:cNvSpPr/>
          <p:nvPr/>
        </p:nvSpPr>
        <p:spPr>
          <a:xfrm>
            <a:off x="7795385" y="1028700"/>
            <a:ext cx="3060383" cy="8229600"/>
          </a:xfrm>
          <a:custGeom>
            <a:avLst/>
            <a:gdLst/>
            <a:ahLst/>
            <a:cxnLst/>
            <a:rect l="l" t="t" r="r" b="b"/>
            <a:pathLst>
              <a:path w="3060383" h="8229600">
                <a:moveTo>
                  <a:pt x="0" y="0"/>
                </a:moveTo>
                <a:lnTo>
                  <a:pt x="3060383" y="0"/>
                </a:lnTo>
                <a:lnTo>
                  <a:pt x="306038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p/>
        </p:txBody>
      </p:sp>
      <p:sp>
        <p:nvSpPr>
          <p:cNvPr id="4" name="Freeform 4"/>
          <p:cNvSpPr/>
          <p:nvPr/>
        </p:nvSpPr>
        <p:spPr>
          <a:xfrm>
            <a:off x="12503593" y="1028700"/>
            <a:ext cx="3078326" cy="8229600"/>
          </a:xfrm>
          <a:custGeom>
            <a:avLst/>
            <a:gdLst/>
            <a:ahLst/>
            <a:cxnLst/>
            <a:rect l="l" t="t" r="r" b="b"/>
            <a:pathLst>
              <a:path w="3078326" h="8229600">
                <a:moveTo>
                  <a:pt x="0" y="0"/>
                </a:moveTo>
                <a:lnTo>
                  <a:pt x="3078326" y="0"/>
                </a:lnTo>
                <a:lnTo>
                  <a:pt x="307832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77" b="-377"/>
            </a:stretch>
          </a:blipFill>
        </p:spPr>
        <p:txBody>
          <a:bodyPr/>
          <a:p/>
        </p:txBody>
      </p:sp>
      <p:sp>
        <p:nvSpPr>
          <p:cNvPr id="5" name="PageNumber"/>
          <p:cNvSpPr txBox="1"/>
          <p:nvPr/>
        </p:nvSpPr>
        <p:spPr>
          <a:xfrm>
            <a:off x="8964295" y="9784017"/>
            <a:ext cx="359410" cy="47561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>
                <a:solidFill>
                  <a:srgbClr val="5A5A5A"/>
                </a:solidFill>
                <a:latin typeface="Arial" panose="020B0604020202020204"/>
              </a:rPr>
              <a:t>7</a:t>
            </a:r>
            <a:endParaRPr sz="2500">
              <a:solidFill>
                <a:srgbClr val="5A5A5A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867857" y="1028700"/>
            <a:ext cx="3060382" cy="8229600"/>
          </a:xfrm>
          <a:custGeom>
            <a:avLst/>
            <a:gdLst/>
            <a:ahLst/>
            <a:cxnLst/>
            <a:rect l="l" t="t" r="r" b="b"/>
            <a:pathLst>
              <a:path w="3060382" h="8229600">
                <a:moveTo>
                  <a:pt x="0" y="0"/>
                </a:moveTo>
                <a:lnTo>
                  <a:pt x="3060382" y="0"/>
                </a:lnTo>
                <a:lnTo>
                  <a:pt x="306038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2813" r="-2813" b="-5626"/>
            </a:stretch>
          </a:blipFill>
        </p:spPr>
        <p:txBody>
          <a:bodyPr/>
          <a:p/>
        </p:txBody>
      </p:sp>
      <p:sp>
        <p:nvSpPr>
          <p:cNvPr id="3" name="Freeform 3"/>
          <p:cNvSpPr/>
          <p:nvPr/>
        </p:nvSpPr>
        <p:spPr>
          <a:xfrm>
            <a:off x="7114639" y="1028700"/>
            <a:ext cx="4156199" cy="8229600"/>
          </a:xfrm>
          <a:custGeom>
            <a:avLst/>
            <a:gdLst/>
            <a:ahLst/>
            <a:cxnLst/>
            <a:rect l="l" t="t" r="r" b="b"/>
            <a:pathLst>
              <a:path w="4156199" h="8229600">
                <a:moveTo>
                  <a:pt x="0" y="0"/>
                </a:moveTo>
                <a:lnTo>
                  <a:pt x="4156198" y="0"/>
                </a:lnTo>
                <a:lnTo>
                  <a:pt x="415619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45"/>
            </a:stretch>
          </a:blipFill>
        </p:spPr>
        <p:txBody>
          <a:bodyPr/>
          <a:p/>
        </p:txBody>
      </p:sp>
      <p:sp>
        <p:nvSpPr>
          <p:cNvPr id="4" name="Freeform 4"/>
          <p:cNvSpPr/>
          <p:nvPr/>
        </p:nvSpPr>
        <p:spPr>
          <a:xfrm>
            <a:off x="12461462" y="1028700"/>
            <a:ext cx="4131830" cy="8229600"/>
          </a:xfrm>
          <a:custGeom>
            <a:avLst/>
            <a:gdLst/>
            <a:ahLst/>
            <a:cxnLst/>
            <a:rect l="l" t="t" r="r" b="b"/>
            <a:pathLst>
              <a:path w="4131830" h="8229600">
                <a:moveTo>
                  <a:pt x="0" y="0"/>
                </a:moveTo>
                <a:lnTo>
                  <a:pt x="4131830" y="0"/>
                </a:lnTo>
                <a:lnTo>
                  <a:pt x="413183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59" r="-4718" b="-859"/>
            </a:stretch>
          </a:blipFill>
        </p:spPr>
        <p:txBody>
          <a:bodyPr/>
          <a:p/>
        </p:txBody>
      </p:sp>
      <p:sp>
        <p:nvSpPr>
          <p:cNvPr id="5" name="PageNumber"/>
          <p:cNvSpPr txBox="1"/>
          <p:nvPr/>
        </p:nvSpPr>
        <p:spPr>
          <a:xfrm>
            <a:off x="8964295" y="9784017"/>
            <a:ext cx="359410" cy="47561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>
                <a:solidFill>
                  <a:srgbClr val="5A5A5A"/>
                </a:solidFill>
                <a:latin typeface="Arial" panose="020B0604020202020204"/>
              </a:rPr>
              <a:t>8</a:t>
            </a:r>
            <a:endParaRPr sz="2500">
              <a:solidFill>
                <a:srgbClr val="5A5A5A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9834985"/>
            <a:ext cx="18769279" cy="904030"/>
            <a:chOff x="0" y="0"/>
            <a:chExt cx="4943349" cy="2380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43349" cy="238098"/>
            </a:xfrm>
            <a:custGeom>
              <a:avLst/>
              <a:gdLst/>
              <a:ahLst/>
              <a:cxnLst/>
              <a:rect l="l" t="t" r="r" b="b"/>
              <a:pathLst>
                <a:path w="4943349" h="238098">
                  <a:moveTo>
                    <a:pt x="0" y="0"/>
                  </a:moveTo>
                  <a:lnTo>
                    <a:pt x="4943349" y="0"/>
                  </a:lnTo>
                  <a:lnTo>
                    <a:pt x="4943349" y="238098"/>
                  </a:lnTo>
                  <a:lnTo>
                    <a:pt x="0" y="238098"/>
                  </a:lnTo>
                  <a:close/>
                </a:path>
              </a:pathLst>
            </a:custGeom>
            <a:solidFill>
              <a:srgbClr val="F2693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943349" cy="2761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 rot="-5400000">
            <a:off x="17005414" y="7885739"/>
            <a:ext cx="2672523" cy="855207"/>
          </a:xfrm>
          <a:custGeom>
            <a:avLst/>
            <a:gdLst/>
            <a:ahLst/>
            <a:cxnLst/>
            <a:rect l="l" t="t" r="r" b="b"/>
            <a:pathLst>
              <a:path w="2672523" h="855207">
                <a:moveTo>
                  <a:pt x="0" y="0"/>
                </a:moveTo>
                <a:lnTo>
                  <a:pt x="2672523" y="0"/>
                </a:lnTo>
                <a:lnTo>
                  <a:pt x="2672523" y="855208"/>
                </a:lnTo>
                <a:lnTo>
                  <a:pt x="0" y="855208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29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6" name="Freeform 6"/>
          <p:cNvSpPr/>
          <p:nvPr/>
        </p:nvSpPr>
        <p:spPr>
          <a:xfrm>
            <a:off x="1754032" y="2694370"/>
            <a:ext cx="9223811" cy="6137209"/>
          </a:xfrm>
          <a:custGeom>
            <a:avLst/>
            <a:gdLst/>
            <a:ahLst/>
            <a:cxnLst/>
            <a:rect l="l" t="t" r="r" b="b"/>
            <a:pathLst>
              <a:path w="9223811" h="6137209">
                <a:moveTo>
                  <a:pt x="0" y="0"/>
                </a:moveTo>
                <a:lnTo>
                  <a:pt x="9223811" y="0"/>
                </a:lnTo>
                <a:lnTo>
                  <a:pt x="9223811" y="6137208"/>
                </a:lnTo>
                <a:lnTo>
                  <a:pt x="0" y="61372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p/>
        </p:txBody>
      </p:sp>
      <p:sp>
        <p:nvSpPr>
          <p:cNvPr id="7" name="Freeform 7"/>
          <p:cNvSpPr/>
          <p:nvPr/>
        </p:nvSpPr>
        <p:spPr>
          <a:xfrm>
            <a:off x="10977843" y="2694370"/>
            <a:ext cx="5843325" cy="6162535"/>
          </a:xfrm>
          <a:custGeom>
            <a:avLst/>
            <a:gdLst/>
            <a:ahLst/>
            <a:cxnLst/>
            <a:rect l="l" t="t" r="r" b="b"/>
            <a:pathLst>
              <a:path w="5843325" h="6162535">
                <a:moveTo>
                  <a:pt x="0" y="0"/>
                </a:moveTo>
                <a:lnTo>
                  <a:pt x="5843324" y="0"/>
                </a:lnTo>
                <a:lnTo>
                  <a:pt x="5843324" y="6162535"/>
                </a:lnTo>
                <a:lnTo>
                  <a:pt x="0" y="61625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p/>
        </p:txBody>
      </p:sp>
      <p:sp>
        <p:nvSpPr>
          <p:cNvPr id="8" name="TextBox 8"/>
          <p:cNvSpPr txBox="1"/>
          <p:nvPr/>
        </p:nvSpPr>
        <p:spPr>
          <a:xfrm>
            <a:off x="2459169" y="876258"/>
            <a:ext cx="14035128" cy="1244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>
                <a:solidFill>
                  <a:srgbClr val="F26934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rPr>
              <a:t>Wireframing Design</a:t>
            </a:r>
            <a:endParaRPr lang="en-US" sz="6500">
              <a:solidFill>
                <a:srgbClr val="F26934"/>
              </a:solidFill>
              <a:latin typeface="Impact" panose="020B0806030902050204"/>
              <a:ea typeface="Impact" panose="020B0806030902050204"/>
              <a:cs typeface="Impact" panose="020B0806030902050204"/>
              <a:sym typeface="Impact" panose="020B0806030902050204"/>
            </a:endParaRPr>
          </a:p>
        </p:txBody>
      </p:sp>
      <p:sp>
        <p:nvSpPr>
          <p:cNvPr id="9" name="PageNumber"/>
          <p:cNvSpPr txBox="1"/>
          <p:nvPr/>
        </p:nvSpPr>
        <p:spPr>
          <a:xfrm>
            <a:off x="8964295" y="9784017"/>
            <a:ext cx="359410" cy="47561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>
                <a:solidFill>
                  <a:srgbClr val="5A5A5A"/>
                </a:solidFill>
                <a:latin typeface="Arial" panose="020B0604020202020204"/>
              </a:rPr>
              <a:t>9</a:t>
            </a:r>
            <a:endParaRPr sz="2500">
              <a:solidFill>
                <a:srgbClr val="5A5A5A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9834985"/>
            <a:ext cx="18769279" cy="904030"/>
            <a:chOff x="0" y="0"/>
            <a:chExt cx="4943349" cy="2380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43349" cy="238098"/>
            </a:xfrm>
            <a:custGeom>
              <a:avLst/>
              <a:gdLst/>
              <a:ahLst/>
              <a:cxnLst/>
              <a:rect l="l" t="t" r="r" b="b"/>
              <a:pathLst>
                <a:path w="4943349" h="238098">
                  <a:moveTo>
                    <a:pt x="0" y="0"/>
                  </a:moveTo>
                  <a:lnTo>
                    <a:pt x="4943349" y="0"/>
                  </a:lnTo>
                  <a:lnTo>
                    <a:pt x="4943349" y="238098"/>
                  </a:lnTo>
                  <a:lnTo>
                    <a:pt x="0" y="238098"/>
                  </a:lnTo>
                  <a:close/>
                </a:path>
              </a:pathLst>
            </a:custGeom>
            <a:solidFill>
              <a:srgbClr val="F2693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943349" cy="2761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-1135102" y="1028700"/>
            <a:ext cx="3433677" cy="1098777"/>
          </a:xfrm>
          <a:custGeom>
            <a:avLst/>
            <a:gdLst/>
            <a:ahLst/>
            <a:cxnLst/>
            <a:rect l="l" t="t" r="r" b="b"/>
            <a:pathLst>
              <a:path w="3433677" h="1098777">
                <a:moveTo>
                  <a:pt x="0" y="0"/>
                </a:moveTo>
                <a:lnTo>
                  <a:pt x="3433677" y="0"/>
                </a:lnTo>
                <a:lnTo>
                  <a:pt x="3433677" y="1098777"/>
                </a:lnTo>
                <a:lnTo>
                  <a:pt x="0" y="1098777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29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6" name="Freeform 6"/>
          <p:cNvSpPr/>
          <p:nvPr/>
        </p:nvSpPr>
        <p:spPr>
          <a:xfrm rot="-5400000">
            <a:off x="17005414" y="7885739"/>
            <a:ext cx="2672523" cy="855207"/>
          </a:xfrm>
          <a:custGeom>
            <a:avLst/>
            <a:gdLst/>
            <a:ahLst/>
            <a:cxnLst/>
            <a:rect l="l" t="t" r="r" b="b"/>
            <a:pathLst>
              <a:path w="2672523" h="855207">
                <a:moveTo>
                  <a:pt x="0" y="0"/>
                </a:moveTo>
                <a:lnTo>
                  <a:pt x="2672523" y="0"/>
                </a:lnTo>
                <a:lnTo>
                  <a:pt x="2672523" y="855208"/>
                </a:lnTo>
                <a:lnTo>
                  <a:pt x="0" y="855208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29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7" name="TextBox 7"/>
          <p:cNvSpPr txBox="1"/>
          <p:nvPr/>
        </p:nvSpPr>
        <p:spPr>
          <a:xfrm>
            <a:off x="2525836" y="641099"/>
            <a:ext cx="13236329" cy="1525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00"/>
              </a:lnSpc>
            </a:pPr>
            <a:r>
              <a:rPr lang="en-US" sz="6500">
                <a:solidFill>
                  <a:srgbClr val="F26934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rPr>
              <a:t>Roles, Responsibilities &amp; Tools</a:t>
            </a:r>
            <a:endParaRPr lang="en-US" sz="6500">
              <a:solidFill>
                <a:srgbClr val="F26934"/>
              </a:solidFill>
              <a:latin typeface="Impact" panose="020B0806030902050204"/>
              <a:ea typeface="Impact" panose="020B0806030902050204"/>
              <a:cs typeface="Impact" panose="020B0806030902050204"/>
              <a:sym typeface="Impact" panose="020B080603090205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525836" y="2628691"/>
            <a:ext cx="6214781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  <a:spcBef>
                <a:spcPct val="0"/>
              </a:spcBef>
            </a:pPr>
            <a:r>
              <a:rPr lang="en-US" sz="48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Responsibilities</a:t>
            </a:r>
            <a:endParaRPr lang="en-US" sz="4800" b="1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grpSp>
        <p:nvGrpSpPr>
          <p:cNvPr id="9" name="Group 9"/>
          <p:cNvGrpSpPr/>
          <p:nvPr/>
        </p:nvGrpSpPr>
        <p:grpSpPr>
          <a:xfrm rot="0">
            <a:off x="2816391" y="3842918"/>
            <a:ext cx="11848453" cy="4709533"/>
            <a:chOff x="0" y="0"/>
            <a:chExt cx="15797937" cy="6279377"/>
          </a:xfrm>
        </p:grpSpPr>
        <p:grpSp>
          <p:nvGrpSpPr>
            <p:cNvPr id="10" name="Group 10"/>
            <p:cNvGrpSpPr/>
            <p:nvPr/>
          </p:nvGrpSpPr>
          <p:grpSpPr>
            <a:xfrm rot="0">
              <a:off x="0" y="0"/>
              <a:ext cx="15797937" cy="6279377"/>
              <a:chOff x="0" y="0"/>
              <a:chExt cx="3088428" cy="1227591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3088428" cy="1227591"/>
              </a:xfrm>
              <a:custGeom>
                <a:avLst/>
                <a:gdLst/>
                <a:ahLst/>
                <a:cxnLst/>
                <a:rect l="l" t="t" r="r" b="b"/>
                <a:pathLst>
                  <a:path w="3088428" h="1227591">
                    <a:moveTo>
                      <a:pt x="33324" y="0"/>
                    </a:moveTo>
                    <a:lnTo>
                      <a:pt x="3055104" y="0"/>
                    </a:lnTo>
                    <a:cubicBezTo>
                      <a:pt x="3073509" y="0"/>
                      <a:pt x="3088428" y="14920"/>
                      <a:pt x="3088428" y="33324"/>
                    </a:cubicBezTo>
                    <a:lnTo>
                      <a:pt x="3088428" y="1194267"/>
                    </a:lnTo>
                    <a:cubicBezTo>
                      <a:pt x="3088428" y="1203105"/>
                      <a:pt x="3084918" y="1211581"/>
                      <a:pt x="3078668" y="1217831"/>
                    </a:cubicBezTo>
                    <a:cubicBezTo>
                      <a:pt x="3072418" y="1224080"/>
                      <a:pt x="3063942" y="1227591"/>
                      <a:pt x="3055104" y="1227591"/>
                    </a:cubicBezTo>
                    <a:lnTo>
                      <a:pt x="33324" y="1227591"/>
                    </a:lnTo>
                    <a:cubicBezTo>
                      <a:pt x="24486" y="1227591"/>
                      <a:pt x="16010" y="1224080"/>
                      <a:pt x="9760" y="1217831"/>
                    </a:cubicBezTo>
                    <a:cubicBezTo>
                      <a:pt x="3511" y="1211581"/>
                      <a:pt x="0" y="1203105"/>
                      <a:pt x="0" y="1194267"/>
                    </a:cubicBezTo>
                    <a:lnTo>
                      <a:pt x="0" y="33324"/>
                    </a:lnTo>
                    <a:cubicBezTo>
                      <a:pt x="0" y="24486"/>
                      <a:pt x="3511" y="16010"/>
                      <a:pt x="9760" y="9760"/>
                    </a:cubicBezTo>
                    <a:cubicBezTo>
                      <a:pt x="16010" y="3511"/>
                      <a:pt x="24486" y="0"/>
                      <a:pt x="333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3088428" cy="1265691"/>
              </a:xfrm>
              <a:prstGeom prst="rect">
                <a:avLst/>
              </a:prstGeom>
            </p:spPr>
            <p:txBody>
              <a:bodyPr lIns="52438" tIns="52438" rIns="52438" bIns="52438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362984" y="181789"/>
              <a:ext cx="14755071" cy="5736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755650" lvl="1" indent="-377825" algn="l">
                <a:lnSpc>
                  <a:spcPts val="4900"/>
                </a:lnSpc>
                <a:buFont typeface="Arial" panose="020B0604020202020204"/>
                <a:buChar char="•"/>
              </a:pPr>
              <a:r>
                <a:rPr lang="en-US" sz="35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User research and requirements</a:t>
              </a:r>
              <a:endParaRPr lang="en-US" sz="3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755650" lvl="1" indent="-377825" algn="l">
                <a:lnSpc>
                  <a:spcPts val="4900"/>
                </a:lnSpc>
                <a:buFont typeface="Arial" panose="020B0604020202020204"/>
                <a:buChar char="•"/>
              </a:pPr>
              <a:r>
                <a:rPr lang="en-US" sz="35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User flows and wireframes</a:t>
              </a:r>
              <a:endParaRPr lang="en-US" sz="3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755650" lvl="1" indent="-377825" algn="l">
                <a:lnSpc>
                  <a:spcPts val="4900"/>
                </a:lnSpc>
                <a:buFont typeface="Arial" panose="020B0604020202020204"/>
                <a:buChar char="•"/>
              </a:pPr>
              <a:r>
                <a:rPr lang="en-US" sz="35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High-fidelity UI screens</a:t>
              </a:r>
              <a:endParaRPr lang="en-US" sz="3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755650" lvl="1" indent="-377825" algn="l">
                <a:lnSpc>
                  <a:spcPts val="4900"/>
                </a:lnSpc>
                <a:buFont typeface="Arial" panose="020B0604020202020204"/>
                <a:buChar char="•"/>
              </a:pPr>
              <a:r>
                <a:rPr lang="en-US" sz="35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Typography, colors, icons and spacing</a:t>
              </a:r>
              <a:endParaRPr lang="en-US" sz="3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755650" lvl="1" indent="-377825" algn="l">
                <a:lnSpc>
                  <a:spcPts val="4900"/>
                </a:lnSpc>
                <a:buFont typeface="Arial" panose="020B0604020202020204"/>
                <a:buChar char="•"/>
              </a:pPr>
              <a:r>
                <a:rPr lang="en-US" sz="35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Reusable components and design system</a:t>
              </a:r>
              <a:endParaRPr lang="en-US" sz="3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755650" lvl="1" indent="-377825" algn="l">
                <a:lnSpc>
                  <a:spcPts val="4900"/>
                </a:lnSpc>
                <a:buFont typeface="Arial" panose="020B0604020202020204"/>
                <a:buChar char="•"/>
              </a:pPr>
              <a:r>
                <a:rPr lang="en-US" sz="35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Interactive prototyping</a:t>
              </a:r>
              <a:endParaRPr lang="en-US" sz="3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755650" lvl="1" indent="-377825" algn="l">
                <a:lnSpc>
                  <a:spcPts val="4900"/>
                </a:lnSpc>
                <a:buFont typeface="Arial" panose="020B0604020202020204"/>
                <a:buChar char="•"/>
              </a:pPr>
              <a:r>
                <a:rPr lang="en-US" sz="35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Design reviews and revisions</a:t>
              </a:r>
              <a:endParaRPr lang="en-US" sz="3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4" name="PageNumber"/>
          <p:cNvSpPr txBox="1"/>
          <p:nvPr/>
        </p:nvSpPr>
        <p:spPr>
          <a:xfrm>
            <a:off x="8876030" y="9784017"/>
            <a:ext cx="535940" cy="47561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>
                <a:solidFill>
                  <a:srgbClr val="5A5A5A"/>
                </a:solidFill>
                <a:latin typeface="Arial" panose="020B0604020202020204"/>
              </a:rPr>
              <a:t>10</a:t>
            </a:r>
            <a:endParaRPr sz="2500">
              <a:solidFill>
                <a:srgbClr val="5A5A5A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9834985"/>
            <a:ext cx="18769279" cy="904030"/>
            <a:chOff x="0" y="0"/>
            <a:chExt cx="4943349" cy="2380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43349" cy="238098"/>
            </a:xfrm>
            <a:custGeom>
              <a:avLst/>
              <a:gdLst/>
              <a:ahLst/>
              <a:cxnLst/>
              <a:rect l="l" t="t" r="r" b="b"/>
              <a:pathLst>
                <a:path w="4943349" h="238098">
                  <a:moveTo>
                    <a:pt x="0" y="0"/>
                  </a:moveTo>
                  <a:lnTo>
                    <a:pt x="4943349" y="0"/>
                  </a:lnTo>
                  <a:lnTo>
                    <a:pt x="4943349" y="238098"/>
                  </a:lnTo>
                  <a:lnTo>
                    <a:pt x="0" y="238098"/>
                  </a:lnTo>
                  <a:close/>
                </a:path>
              </a:pathLst>
            </a:custGeom>
            <a:solidFill>
              <a:srgbClr val="F2693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943349" cy="2761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-1135102" y="1028700"/>
            <a:ext cx="3433677" cy="1098777"/>
          </a:xfrm>
          <a:custGeom>
            <a:avLst/>
            <a:gdLst/>
            <a:ahLst/>
            <a:cxnLst/>
            <a:rect l="l" t="t" r="r" b="b"/>
            <a:pathLst>
              <a:path w="3433677" h="1098777">
                <a:moveTo>
                  <a:pt x="0" y="0"/>
                </a:moveTo>
                <a:lnTo>
                  <a:pt x="3433677" y="0"/>
                </a:lnTo>
                <a:lnTo>
                  <a:pt x="3433677" y="1098777"/>
                </a:lnTo>
                <a:lnTo>
                  <a:pt x="0" y="1098777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29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6" name="Freeform 6"/>
          <p:cNvSpPr/>
          <p:nvPr/>
        </p:nvSpPr>
        <p:spPr>
          <a:xfrm rot="-5400000">
            <a:off x="17005414" y="7885739"/>
            <a:ext cx="2672523" cy="855207"/>
          </a:xfrm>
          <a:custGeom>
            <a:avLst/>
            <a:gdLst/>
            <a:ahLst/>
            <a:cxnLst/>
            <a:rect l="l" t="t" r="r" b="b"/>
            <a:pathLst>
              <a:path w="2672523" h="855207">
                <a:moveTo>
                  <a:pt x="0" y="0"/>
                </a:moveTo>
                <a:lnTo>
                  <a:pt x="2672523" y="0"/>
                </a:lnTo>
                <a:lnTo>
                  <a:pt x="2672523" y="855208"/>
                </a:lnTo>
                <a:lnTo>
                  <a:pt x="0" y="855208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29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7" name="TextBox 7"/>
          <p:cNvSpPr txBox="1"/>
          <p:nvPr/>
        </p:nvSpPr>
        <p:spPr>
          <a:xfrm>
            <a:off x="2525836" y="641099"/>
            <a:ext cx="13236329" cy="1525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00"/>
              </a:lnSpc>
            </a:pPr>
            <a:r>
              <a:rPr lang="en-US" sz="6500">
                <a:solidFill>
                  <a:srgbClr val="F26934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rPr>
              <a:t>Roles, Responsibilities &amp; Tools</a:t>
            </a:r>
            <a:endParaRPr lang="en-US" sz="6500">
              <a:solidFill>
                <a:srgbClr val="F26934"/>
              </a:solidFill>
              <a:latin typeface="Impact" panose="020B0806030902050204"/>
              <a:ea typeface="Impact" panose="020B0806030902050204"/>
              <a:cs typeface="Impact" panose="020B0806030902050204"/>
              <a:sym typeface="Impact" panose="020B080603090205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590606" y="2594401"/>
            <a:ext cx="6214781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  <a:spcBef>
                <a:spcPct val="0"/>
              </a:spcBef>
            </a:pPr>
            <a:r>
              <a:rPr lang="en-US" sz="48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Tools &amp; Practices</a:t>
            </a:r>
            <a:endParaRPr lang="en-US" sz="4800" b="1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grpSp>
        <p:nvGrpSpPr>
          <p:cNvPr id="9" name="Group 9"/>
          <p:cNvGrpSpPr/>
          <p:nvPr/>
        </p:nvGrpSpPr>
        <p:grpSpPr>
          <a:xfrm rot="0">
            <a:off x="2816391" y="3842918"/>
            <a:ext cx="11848453" cy="4709533"/>
            <a:chOff x="0" y="0"/>
            <a:chExt cx="15797937" cy="6279377"/>
          </a:xfrm>
        </p:grpSpPr>
        <p:grpSp>
          <p:nvGrpSpPr>
            <p:cNvPr id="10" name="Group 10"/>
            <p:cNvGrpSpPr/>
            <p:nvPr/>
          </p:nvGrpSpPr>
          <p:grpSpPr>
            <a:xfrm rot="0">
              <a:off x="0" y="0"/>
              <a:ext cx="15797937" cy="6279377"/>
              <a:chOff x="0" y="0"/>
              <a:chExt cx="3088428" cy="1227591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3088428" cy="1227591"/>
              </a:xfrm>
              <a:custGeom>
                <a:avLst/>
                <a:gdLst/>
                <a:ahLst/>
                <a:cxnLst/>
                <a:rect l="l" t="t" r="r" b="b"/>
                <a:pathLst>
                  <a:path w="3088428" h="1227591">
                    <a:moveTo>
                      <a:pt x="33324" y="0"/>
                    </a:moveTo>
                    <a:lnTo>
                      <a:pt x="3055104" y="0"/>
                    </a:lnTo>
                    <a:cubicBezTo>
                      <a:pt x="3073509" y="0"/>
                      <a:pt x="3088428" y="14920"/>
                      <a:pt x="3088428" y="33324"/>
                    </a:cubicBezTo>
                    <a:lnTo>
                      <a:pt x="3088428" y="1194267"/>
                    </a:lnTo>
                    <a:cubicBezTo>
                      <a:pt x="3088428" y="1203105"/>
                      <a:pt x="3084918" y="1211581"/>
                      <a:pt x="3078668" y="1217831"/>
                    </a:cubicBezTo>
                    <a:cubicBezTo>
                      <a:pt x="3072418" y="1224080"/>
                      <a:pt x="3063942" y="1227591"/>
                      <a:pt x="3055104" y="1227591"/>
                    </a:cubicBezTo>
                    <a:lnTo>
                      <a:pt x="33324" y="1227591"/>
                    </a:lnTo>
                    <a:cubicBezTo>
                      <a:pt x="24486" y="1227591"/>
                      <a:pt x="16010" y="1224080"/>
                      <a:pt x="9760" y="1217831"/>
                    </a:cubicBezTo>
                    <a:cubicBezTo>
                      <a:pt x="3511" y="1211581"/>
                      <a:pt x="0" y="1203105"/>
                      <a:pt x="0" y="1194267"/>
                    </a:cubicBezTo>
                    <a:lnTo>
                      <a:pt x="0" y="33324"/>
                    </a:lnTo>
                    <a:cubicBezTo>
                      <a:pt x="0" y="24486"/>
                      <a:pt x="3511" y="16010"/>
                      <a:pt x="9760" y="9760"/>
                    </a:cubicBezTo>
                    <a:cubicBezTo>
                      <a:pt x="16010" y="3511"/>
                      <a:pt x="24486" y="0"/>
                      <a:pt x="333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3088428" cy="1265691"/>
              </a:xfrm>
              <a:prstGeom prst="rect">
                <a:avLst/>
              </a:prstGeom>
            </p:spPr>
            <p:txBody>
              <a:bodyPr lIns="52438" tIns="52438" rIns="52438" bIns="52438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362984" y="181789"/>
              <a:ext cx="14755071" cy="5736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755650" lvl="1" indent="-377825" algn="l">
                <a:lnSpc>
                  <a:spcPts val="4900"/>
                </a:lnSpc>
                <a:buFont typeface="Arial" panose="020B0604020202020204"/>
                <a:buChar char="•"/>
              </a:pPr>
              <a:r>
                <a:rPr lang="en-US" sz="35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Figma</a:t>
              </a:r>
              <a:endParaRPr lang="en-US" sz="3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755650" lvl="1" indent="-377825" algn="l">
                <a:lnSpc>
                  <a:spcPts val="4900"/>
                </a:lnSpc>
                <a:buFont typeface="Arial" panose="020B0604020202020204"/>
                <a:buChar char="•"/>
              </a:pPr>
              <a:r>
                <a:rPr lang="en-US" sz="35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User-centered design</a:t>
              </a:r>
              <a:endParaRPr lang="en-US" sz="3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755650" lvl="1" indent="-377825" algn="l">
                <a:lnSpc>
                  <a:spcPts val="4900"/>
                </a:lnSpc>
                <a:buFont typeface="Arial" panose="020B0604020202020204"/>
                <a:buChar char="•"/>
              </a:pPr>
              <a:r>
                <a:rPr lang="en-US" sz="35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Design thinking</a:t>
              </a:r>
              <a:endParaRPr lang="en-US" sz="3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755650" lvl="1" indent="-377825" algn="l">
                <a:lnSpc>
                  <a:spcPts val="4900"/>
                </a:lnSpc>
                <a:buFont typeface="Arial" panose="020B0604020202020204"/>
                <a:buChar char="•"/>
              </a:pPr>
              <a:r>
                <a:rPr lang="en-US" sz="35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Responsive design principles</a:t>
              </a:r>
              <a:endParaRPr lang="en-US" sz="3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755650" lvl="1" indent="-377825" algn="l">
                <a:lnSpc>
                  <a:spcPts val="4900"/>
                </a:lnSpc>
                <a:buFont typeface="Arial" panose="020B0604020202020204"/>
                <a:buChar char="•"/>
              </a:pPr>
              <a:r>
                <a:rPr lang="en-US" sz="35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Prototyping</a:t>
              </a:r>
              <a:endParaRPr lang="en-US" sz="3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755650" lvl="1" indent="-377825" algn="l">
                <a:lnSpc>
                  <a:spcPts val="4900"/>
                </a:lnSpc>
                <a:buFont typeface="Arial" panose="020B0604020202020204"/>
                <a:buChar char="•"/>
              </a:pPr>
              <a:r>
                <a:rPr lang="en-US" sz="35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Interactive design</a:t>
              </a:r>
              <a:endParaRPr lang="en-US" sz="3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755650" lvl="1" indent="-377825" algn="l">
                <a:lnSpc>
                  <a:spcPts val="4900"/>
                </a:lnSpc>
                <a:buFont typeface="Arial" panose="020B0604020202020204"/>
                <a:buChar char="•"/>
              </a:pPr>
              <a:r>
                <a:rPr lang="en-US" sz="35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Mentor/team collaboration</a:t>
              </a:r>
              <a:endParaRPr lang="en-US" sz="3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4" name="PageNumber"/>
          <p:cNvSpPr txBox="1"/>
          <p:nvPr/>
        </p:nvSpPr>
        <p:spPr>
          <a:xfrm>
            <a:off x="8888095" y="9784017"/>
            <a:ext cx="511810" cy="47561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>
                <a:solidFill>
                  <a:srgbClr val="5A5A5A"/>
                </a:solidFill>
                <a:latin typeface="Arial" panose="020B0604020202020204"/>
              </a:rPr>
              <a:t>11</a:t>
            </a:r>
            <a:endParaRPr sz="2500">
              <a:solidFill>
                <a:srgbClr val="5A5A5A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9834985"/>
            <a:ext cx="18769279" cy="904030"/>
            <a:chOff x="0" y="0"/>
            <a:chExt cx="4943349" cy="2380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43349" cy="238098"/>
            </a:xfrm>
            <a:custGeom>
              <a:avLst/>
              <a:gdLst/>
              <a:ahLst/>
              <a:cxnLst/>
              <a:rect l="l" t="t" r="r" b="b"/>
              <a:pathLst>
                <a:path w="4943349" h="238098">
                  <a:moveTo>
                    <a:pt x="0" y="0"/>
                  </a:moveTo>
                  <a:lnTo>
                    <a:pt x="4943349" y="0"/>
                  </a:lnTo>
                  <a:lnTo>
                    <a:pt x="4943349" y="238098"/>
                  </a:lnTo>
                  <a:lnTo>
                    <a:pt x="0" y="238098"/>
                  </a:lnTo>
                  <a:close/>
                </a:path>
              </a:pathLst>
            </a:custGeom>
            <a:solidFill>
              <a:srgbClr val="F2693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943349" cy="2761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-1135102" y="1028700"/>
            <a:ext cx="3433677" cy="1098777"/>
          </a:xfrm>
          <a:custGeom>
            <a:avLst/>
            <a:gdLst/>
            <a:ahLst/>
            <a:cxnLst/>
            <a:rect l="l" t="t" r="r" b="b"/>
            <a:pathLst>
              <a:path w="3433677" h="1098777">
                <a:moveTo>
                  <a:pt x="0" y="0"/>
                </a:moveTo>
                <a:lnTo>
                  <a:pt x="3433677" y="0"/>
                </a:lnTo>
                <a:lnTo>
                  <a:pt x="3433677" y="1098777"/>
                </a:lnTo>
                <a:lnTo>
                  <a:pt x="0" y="1098777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29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6" name="Freeform 6"/>
          <p:cNvSpPr/>
          <p:nvPr/>
        </p:nvSpPr>
        <p:spPr>
          <a:xfrm rot="-5400000">
            <a:off x="17005414" y="7885739"/>
            <a:ext cx="2672523" cy="855207"/>
          </a:xfrm>
          <a:custGeom>
            <a:avLst/>
            <a:gdLst/>
            <a:ahLst/>
            <a:cxnLst/>
            <a:rect l="l" t="t" r="r" b="b"/>
            <a:pathLst>
              <a:path w="2672523" h="855207">
                <a:moveTo>
                  <a:pt x="0" y="0"/>
                </a:moveTo>
                <a:lnTo>
                  <a:pt x="2672523" y="0"/>
                </a:lnTo>
                <a:lnTo>
                  <a:pt x="2672523" y="855208"/>
                </a:lnTo>
                <a:lnTo>
                  <a:pt x="0" y="855208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29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7" name="TextBox 7"/>
          <p:cNvSpPr txBox="1"/>
          <p:nvPr/>
        </p:nvSpPr>
        <p:spPr>
          <a:xfrm>
            <a:off x="2525836" y="641099"/>
            <a:ext cx="15946180" cy="1525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00"/>
              </a:lnSpc>
            </a:pPr>
            <a:r>
              <a:rPr lang="en-US" sz="6500">
                <a:solidFill>
                  <a:srgbClr val="F26934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rPr>
              <a:t>Internship Progress: Weekly Highlights</a:t>
            </a:r>
            <a:endParaRPr lang="en-US" sz="6500">
              <a:solidFill>
                <a:srgbClr val="F26934"/>
              </a:solidFill>
              <a:latin typeface="Impact" panose="020B0806030902050204"/>
              <a:ea typeface="Impact" panose="020B0806030902050204"/>
              <a:cs typeface="Impact" panose="020B0806030902050204"/>
              <a:sym typeface="Impact" panose="020B0806030902050204"/>
            </a:endParaRPr>
          </a:p>
        </p:txBody>
      </p:sp>
      <p:grpSp>
        <p:nvGrpSpPr>
          <p:cNvPr id="8" name="Group 8"/>
          <p:cNvGrpSpPr/>
          <p:nvPr/>
        </p:nvGrpSpPr>
        <p:grpSpPr>
          <a:xfrm rot="0">
            <a:off x="2057155" y="3314449"/>
            <a:ext cx="14570446" cy="1693109"/>
            <a:chOff x="0" y="0"/>
            <a:chExt cx="19427261" cy="2257479"/>
          </a:xfrm>
        </p:grpSpPr>
        <p:grpSp>
          <p:nvGrpSpPr>
            <p:cNvPr id="9" name="Group 9"/>
            <p:cNvGrpSpPr/>
            <p:nvPr/>
          </p:nvGrpSpPr>
          <p:grpSpPr>
            <a:xfrm rot="0">
              <a:off x="0" y="0"/>
              <a:ext cx="19427261" cy="2257479"/>
              <a:chOff x="0" y="0"/>
              <a:chExt cx="3920395" cy="455556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3920394" cy="455556"/>
              </a:xfrm>
              <a:custGeom>
                <a:avLst/>
                <a:gdLst/>
                <a:ahLst/>
                <a:cxnLst/>
                <a:rect l="l" t="t" r="r" b="b"/>
                <a:pathLst>
                  <a:path w="3920394" h="455556">
                    <a:moveTo>
                      <a:pt x="27099" y="0"/>
                    </a:moveTo>
                    <a:lnTo>
                      <a:pt x="3893296" y="0"/>
                    </a:lnTo>
                    <a:cubicBezTo>
                      <a:pt x="3900483" y="0"/>
                      <a:pt x="3907375" y="2855"/>
                      <a:pt x="3912457" y="7937"/>
                    </a:cubicBezTo>
                    <a:cubicBezTo>
                      <a:pt x="3917540" y="13019"/>
                      <a:pt x="3920394" y="19912"/>
                      <a:pt x="3920394" y="27099"/>
                    </a:cubicBezTo>
                    <a:lnTo>
                      <a:pt x="3920394" y="428458"/>
                    </a:lnTo>
                    <a:cubicBezTo>
                      <a:pt x="3920394" y="443424"/>
                      <a:pt x="3908262" y="455556"/>
                      <a:pt x="3893296" y="455556"/>
                    </a:cubicBezTo>
                    <a:lnTo>
                      <a:pt x="27099" y="455556"/>
                    </a:lnTo>
                    <a:cubicBezTo>
                      <a:pt x="12132" y="455556"/>
                      <a:pt x="0" y="443424"/>
                      <a:pt x="0" y="428458"/>
                    </a:cubicBezTo>
                    <a:lnTo>
                      <a:pt x="0" y="27099"/>
                    </a:lnTo>
                    <a:cubicBezTo>
                      <a:pt x="0" y="19912"/>
                      <a:pt x="2855" y="13019"/>
                      <a:pt x="7937" y="7937"/>
                    </a:cubicBezTo>
                    <a:cubicBezTo>
                      <a:pt x="13019" y="2855"/>
                      <a:pt x="19912" y="0"/>
                      <a:pt x="2709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3920395" cy="49365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740054" y="195076"/>
              <a:ext cx="18204727" cy="18980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30"/>
                </a:lnSpc>
              </a:pPr>
              <a:r>
                <a:rPr lang="en-US" sz="2735" b="1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Weeks 1-3</a:t>
              </a:r>
              <a:endParaRPr lang="en-US" sz="2735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  <a:p>
              <a:pPr algn="l">
                <a:lnSpc>
                  <a:spcPts val="3830"/>
                </a:lnSpc>
                <a:spcBef>
                  <a:spcPct val="0"/>
                </a:spcBef>
              </a:pPr>
              <a:r>
                <a:rPr lang="en-US" sz="2735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Orientation, Figma practice, typography/ color theory, logo work and educational website analysis.</a:t>
              </a:r>
              <a:endParaRPr lang="en-US" sz="273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 rot="0">
            <a:off x="2056520" y="5513604"/>
            <a:ext cx="14570446" cy="1207334"/>
            <a:chOff x="0" y="0"/>
            <a:chExt cx="19427261" cy="1609779"/>
          </a:xfrm>
        </p:grpSpPr>
        <p:grpSp>
          <p:nvGrpSpPr>
            <p:cNvPr id="14" name="Group 14"/>
            <p:cNvGrpSpPr/>
            <p:nvPr/>
          </p:nvGrpSpPr>
          <p:grpSpPr>
            <a:xfrm rot="0">
              <a:off x="0" y="0"/>
              <a:ext cx="19427261" cy="1609779"/>
              <a:chOff x="0" y="0"/>
              <a:chExt cx="3920395" cy="324851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3920394" cy="324851"/>
              </a:xfrm>
              <a:custGeom>
                <a:avLst/>
                <a:gdLst/>
                <a:ahLst/>
                <a:cxnLst/>
                <a:rect l="l" t="t" r="r" b="b"/>
                <a:pathLst>
                  <a:path w="3920394" h="324851">
                    <a:moveTo>
                      <a:pt x="27099" y="0"/>
                    </a:moveTo>
                    <a:lnTo>
                      <a:pt x="3893296" y="0"/>
                    </a:lnTo>
                    <a:cubicBezTo>
                      <a:pt x="3900483" y="0"/>
                      <a:pt x="3907375" y="2855"/>
                      <a:pt x="3912457" y="7937"/>
                    </a:cubicBezTo>
                    <a:cubicBezTo>
                      <a:pt x="3917540" y="13019"/>
                      <a:pt x="3920394" y="19912"/>
                      <a:pt x="3920394" y="27099"/>
                    </a:cubicBezTo>
                    <a:lnTo>
                      <a:pt x="3920394" y="297753"/>
                    </a:lnTo>
                    <a:cubicBezTo>
                      <a:pt x="3920394" y="312719"/>
                      <a:pt x="3908262" y="324851"/>
                      <a:pt x="3893296" y="324851"/>
                    </a:cubicBezTo>
                    <a:lnTo>
                      <a:pt x="27099" y="324851"/>
                    </a:lnTo>
                    <a:cubicBezTo>
                      <a:pt x="12132" y="324851"/>
                      <a:pt x="0" y="312719"/>
                      <a:pt x="0" y="297753"/>
                    </a:cubicBezTo>
                    <a:lnTo>
                      <a:pt x="0" y="27099"/>
                    </a:lnTo>
                    <a:cubicBezTo>
                      <a:pt x="0" y="19912"/>
                      <a:pt x="2855" y="13019"/>
                      <a:pt x="7937" y="7937"/>
                    </a:cubicBezTo>
                    <a:cubicBezTo>
                      <a:pt x="13019" y="2855"/>
                      <a:pt x="19912" y="0"/>
                      <a:pt x="2709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38100"/>
                <a:ext cx="3920395" cy="36295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740054" y="195076"/>
              <a:ext cx="18204727" cy="12503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30"/>
                </a:lnSpc>
              </a:pPr>
              <a:r>
                <a:rPr lang="en-US" sz="2735" b="1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Weeks 4-6</a:t>
              </a:r>
              <a:endParaRPr lang="en-US" sz="2735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  <a:p>
              <a:pPr algn="l">
                <a:lnSpc>
                  <a:spcPts val="3830"/>
                </a:lnSpc>
                <a:spcBef>
                  <a:spcPct val="0"/>
                </a:spcBef>
              </a:pPr>
              <a:r>
                <a:rPr lang="en-US" sz="2735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Logo/banner concepts, IELTSGo.uk mockup and IELTSGo TEFL UI/UX evaluation.</a:t>
              </a:r>
              <a:endParaRPr lang="en-US" sz="273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 rot="0">
            <a:off x="1980955" y="7350223"/>
            <a:ext cx="14570446" cy="1693109"/>
            <a:chOff x="0" y="0"/>
            <a:chExt cx="19427261" cy="2257479"/>
          </a:xfrm>
        </p:grpSpPr>
        <p:grpSp>
          <p:nvGrpSpPr>
            <p:cNvPr id="19" name="Group 19"/>
            <p:cNvGrpSpPr/>
            <p:nvPr/>
          </p:nvGrpSpPr>
          <p:grpSpPr>
            <a:xfrm rot="0">
              <a:off x="0" y="0"/>
              <a:ext cx="19427261" cy="2257479"/>
              <a:chOff x="0" y="0"/>
              <a:chExt cx="3920395" cy="45555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3920394" cy="455556"/>
              </a:xfrm>
              <a:custGeom>
                <a:avLst/>
                <a:gdLst/>
                <a:ahLst/>
                <a:cxnLst/>
                <a:rect l="l" t="t" r="r" b="b"/>
                <a:pathLst>
                  <a:path w="3920394" h="455556">
                    <a:moveTo>
                      <a:pt x="27099" y="0"/>
                    </a:moveTo>
                    <a:lnTo>
                      <a:pt x="3893296" y="0"/>
                    </a:lnTo>
                    <a:cubicBezTo>
                      <a:pt x="3900483" y="0"/>
                      <a:pt x="3907375" y="2855"/>
                      <a:pt x="3912457" y="7937"/>
                    </a:cubicBezTo>
                    <a:cubicBezTo>
                      <a:pt x="3917540" y="13019"/>
                      <a:pt x="3920394" y="19912"/>
                      <a:pt x="3920394" y="27099"/>
                    </a:cubicBezTo>
                    <a:lnTo>
                      <a:pt x="3920394" y="428458"/>
                    </a:lnTo>
                    <a:cubicBezTo>
                      <a:pt x="3920394" y="443424"/>
                      <a:pt x="3908262" y="455556"/>
                      <a:pt x="3893296" y="455556"/>
                    </a:cubicBezTo>
                    <a:lnTo>
                      <a:pt x="27099" y="455556"/>
                    </a:lnTo>
                    <a:cubicBezTo>
                      <a:pt x="12132" y="455556"/>
                      <a:pt x="0" y="443424"/>
                      <a:pt x="0" y="428458"/>
                    </a:cubicBezTo>
                    <a:lnTo>
                      <a:pt x="0" y="27099"/>
                    </a:lnTo>
                    <a:cubicBezTo>
                      <a:pt x="0" y="19912"/>
                      <a:pt x="2855" y="13019"/>
                      <a:pt x="7937" y="7937"/>
                    </a:cubicBezTo>
                    <a:cubicBezTo>
                      <a:pt x="13019" y="2855"/>
                      <a:pt x="19912" y="0"/>
                      <a:pt x="2709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3920395" cy="49365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740054" y="195076"/>
              <a:ext cx="18204727" cy="18980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30"/>
                </a:lnSpc>
              </a:pPr>
              <a:r>
                <a:rPr lang="en-US" sz="2735" b="1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Weeks 7-9</a:t>
              </a:r>
              <a:endParaRPr lang="en-US" sz="2735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  <a:p>
              <a:pPr algn="l">
                <a:lnSpc>
                  <a:spcPts val="3830"/>
                </a:lnSpc>
                <a:spcBef>
                  <a:spcPct val="0"/>
                </a:spcBef>
              </a:pPr>
              <a:r>
                <a:rPr lang="en-US" sz="2735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Documentation, Coffee Shop app planning, website mockups and main mobile screens.</a:t>
              </a:r>
              <a:endParaRPr lang="en-US" sz="273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23" name="PageNumber"/>
          <p:cNvSpPr txBox="1"/>
          <p:nvPr/>
        </p:nvSpPr>
        <p:spPr>
          <a:xfrm>
            <a:off x="8876030" y="9784017"/>
            <a:ext cx="535940" cy="47561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>
                <a:solidFill>
                  <a:srgbClr val="5A5A5A"/>
                </a:solidFill>
                <a:latin typeface="Arial" panose="020B0604020202020204"/>
              </a:rPr>
              <a:t>12</a:t>
            </a:r>
            <a:endParaRPr sz="2500">
              <a:solidFill>
                <a:srgbClr val="5A5A5A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9834985"/>
            <a:ext cx="18769279" cy="904030"/>
            <a:chOff x="0" y="0"/>
            <a:chExt cx="4943349" cy="2380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43349" cy="238098"/>
            </a:xfrm>
            <a:custGeom>
              <a:avLst/>
              <a:gdLst/>
              <a:ahLst/>
              <a:cxnLst/>
              <a:rect l="l" t="t" r="r" b="b"/>
              <a:pathLst>
                <a:path w="4943349" h="238098">
                  <a:moveTo>
                    <a:pt x="0" y="0"/>
                  </a:moveTo>
                  <a:lnTo>
                    <a:pt x="4943349" y="0"/>
                  </a:lnTo>
                  <a:lnTo>
                    <a:pt x="4943349" y="238098"/>
                  </a:lnTo>
                  <a:lnTo>
                    <a:pt x="0" y="238098"/>
                  </a:lnTo>
                  <a:close/>
                </a:path>
              </a:pathLst>
            </a:custGeom>
            <a:solidFill>
              <a:srgbClr val="F2693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943349" cy="2761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-1135102" y="1028700"/>
            <a:ext cx="3433677" cy="1098777"/>
          </a:xfrm>
          <a:custGeom>
            <a:avLst/>
            <a:gdLst/>
            <a:ahLst/>
            <a:cxnLst/>
            <a:rect l="l" t="t" r="r" b="b"/>
            <a:pathLst>
              <a:path w="3433677" h="1098777">
                <a:moveTo>
                  <a:pt x="0" y="0"/>
                </a:moveTo>
                <a:lnTo>
                  <a:pt x="3433677" y="0"/>
                </a:lnTo>
                <a:lnTo>
                  <a:pt x="3433677" y="1098777"/>
                </a:lnTo>
                <a:lnTo>
                  <a:pt x="0" y="1098777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29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6" name="Freeform 6"/>
          <p:cNvSpPr/>
          <p:nvPr/>
        </p:nvSpPr>
        <p:spPr>
          <a:xfrm rot="-5400000">
            <a:off x="17005414" y="7885739"/>
            <a:ext cx="2672523" cy="855207"/>
          </a:xfrm>
          <a:custGeom>
            <a:avLst/>
            <a:gdLst/>
            <a:ahLst/>
            <a:cxnLst/>
            <a:rect l="l" t="t" r="r" b="b"/>
            <a:pathLst>
              <a:path w="2672523" h="855207">
                <a:moveTo>
                  <a:pt x="0" y="0"/>
                </a:moveTo>
                <a:lnTo>
                  <a:pt x="2672523" y="0"/>
                </a:lnTo>
                <a:lnTo>
                  <a:pt x="2672523" y="855208"/>
                </a:lnTo>
                <a:lnTo>
                  <a:pt x="0" y="855208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29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7" name="TextBox 7"/>
          <p:cNvSpPr txBox="1"/>
          <p:nvPr/>
        </p:nvSpPr>
        <p:spPr>
          <a:xfrm>
            <a:off x="2525836" y="641099"/>
            <a:ext cx="15946180" cy="1525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00"/>
              </a:lnSpc>
            </a:pPr>
            <a:r>
              <a:rPr lang="en-US" sz="6500">
                <a:solidFill>
                  <a:srgbClr val="F26934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rPr>
              <a:t>Internship Progress: Weekly Highlights</a:t>
            </a:r>
            <a:endParaRPr lang="en-US" sz="6500">
              <a:solidFill>
                <a:srgbClr val="F26934"/>
              </a:solidFill>
              <a:latin typeface="Impact" panose="020B0806030902050204"/>
              <a:ea typeface="Impact" panose="020B0806030902050204"/>
              <a:cs typeface="Impact" panose="020B0806030902050204"/>
              <a:sym typeface="Impact" panose="020B0806030902050204"/>
            </a:endParaRPr>
          </a:p>
        </p:txBody>
      </p:sp>
      <p:grpSp>
        <p:nvGrpSpPr>
          <p:cNvPr id="8" name="Group 8"/>
          <p:cNvGrpSpPr/>
          <p:nvPr/>
        </p:nvGrpSpPr>
        <p:grpSpPr>
          <a:xfrm rot="0">
            <a:off x="2099065" y="3216659"/>
            <a:ext cx="14570446" cy="1693109"/>
            <a:chOff x="0" y="0"/>
            <a:chExt cx="19427261" cy="2257479"/>
          </a:xfrm>
        </p:grpSpPr>
        <p:grpSp>
          <p:nvGrpSpPr>
            <p:cNvPr id="9" name="Group 9"/>
            <p:cNvGrpSpPr/>
            <p:nvPr/>
          </p:nvGrpSpPr>
          <p:grpSpPr>
            <a:xfrm rot="0">
              <a:off x="0" y="0"/>
              <a:ext cx="19427261" cy="2257479"/>
              <a:chOff x="0" y="0"/>
              <a:chExt cx="3920395" cy="455556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3920394" cy="455556"/>
              </a:xfrm>
              <a:custGeom>
                <a:avLst/>
                <a:gdLst/>
                <a:ahLst/>
                <a:cxnLst/>
                <a:rect l="l" t="t" r="r" b="b"/>
                <a:pathLst>
                  <a:path w="3920394" h="455556">
                    <a:moveTo>
                      <a:pt x="27099" y="0"/>
                    </a:moveTo>
                    <a:lnTo>
                      <a:pt x="3893296" y="0"/>
                    </a:lnTo>
                    <a:cubicBezTo>
                      <a:pt x="3900483" y="0"/>
                      <a:pt x="3907375" y="2855"/>
                      <a:pt x="3912457" y="7937"/>
                    </a:cubicBezTo>
                    <a:cubicBezTo>
                      <a:pt x="3917540" y="13019"/>
                      <a:pt x="3920394" y="19912"/>
                      <a:pt x="3920394" y="27099"/>
                    </a:cubicBezTo>
                    <a:lnTo>
                      <a:pt x="3920394" y="428458"/>
                    </a:lnTo>
                    <a:cubicBezTo>
                      <a:pt x="3920394" y="443424"/>
                      <a:pt x="3908262" y="455556"/>
                      <a:pt x="3893296" y="455556"/>
                    </a:cubicBezTo>
                    <a:lnTo>
                      <a:pt x="27099" y="455556"/>
                    </a:lnTo>
                    <a:cubicBezTo>
                      <a:pt x="12132" y="455556"/>
                      <a:pt x="0" y="443424"/>
                      <a:pt x="0" y="428458"/>
                    </a:cubicBezTo>
                    <a:lnTo>
                      <a:pt x="0" y="27099"/>
                    </a:lnTo>
                    <a:cubicBezTo>
                      <a:pt x="0" y="19912"/>
                      <a:pt x="2855" y="13019"/>
                      <a:pt x="7937" y="7937"/>
                    </a:cubicBezTo>
                    <a:cubicBezTo>
                      <a:pt x="13019" y="2855"/>
                      <a:pt x="19912" y="0"/>
                      <a:pt x="2709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3920395" cy="49365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740054" y="195076"/>
              <a:ext cx="18204727" cy="18980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30"/>
                </a:lnSpc>
              </a:pPr>
              <a:r>
                <a:rPr lang="en-US" sz="2735" b="1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Weeks 10</a:t>
              </a:r>
              <a:endParaRPr lang="en-US" sz="2735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  <a:p>
              <a:pPr algn="l">
                <a:lnSpc>
                  <a:spcPts val="3830"/>
                </a:lnSpc>
                <a:spcBef>
                  <a:spcPct val="0"/>
                </a:spcBef>
              </a:pPr>
              <a:r>
                <a:rPr lang="en-US" sz="2735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Refined components, consistency, spacing, typography, colors and reusable elements.</a:t>
              </a:r>
              <a:endParaRPr lang="en-US" sz="273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 rot="0">
            <a:off x="2133355" y="5472378"/>
            <a:ext cx="14570446" cy="1693109"/>
            <a:chOff x="0" y="0"/>
            <a:chExt cx="19427261" cy="2257479"/>
          </a:xfrm>
        </p:grpSpPr>
        <p:grpSp>
          <p:nvGrpSpPr>
            <p:cNvPr id="14" name="Group 14"/>
            <p:cNvGrpSpPr/>
            <p:nvPr/>
          </p:nvGrpSpPr>
          <p:grpSpPr>
            <a:xfrm rot="0">
              <a:off x="0" y="0"/>
              <a:ext cx="19427261" cy="2257479"/>
              <a:chOff x="0" y="0"/>
              <a:chExt cx="3920395" cy="455556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3920394" cy="455556"/>
              </a:xfrm>
              <a:custGeom>
                <a:avLst/>
                <a:gdLst/>
                <a:ahLst/>
                <a:cxnLst/>
                <a:rect l="l" t="t" r="r" b="b"/>
                <a:pathLst>
                  <a:path w="3920394" h="455556">
                    <a:moveTo>
                      <a:pt x="27099" y="0"/>
                    </a:moveTo>
                    <a:lnTo>
                      <a:pt x="3893296" y="0"/>
                    </a:lnTo>
                    <a:cubicBezTo>
                      <a:pt x="3900483" y="0"/>
                      <a:pt x="3907375" y="2855"/>
                      <a:pt x="3912457" y="7937"/>
                    </a:cubicBezTo>
                    <a:cubicBezTo>
                      <a:pt x="3917540" y="13019"/>
                      <a:pt x="3920394" y="19912"/>
                      <a:pt x="3920394" y="27099"/>
                    </a:cubicBezTo>
                    <a:lnTo>
                      <a:pt x="3920394" y="428458"/>
                    </a:lnTo>
                    <a:cubicBezTo>
                      <a:pt x="3920394" y="443424"/>
                      <a:pt x="3908262" y="455556"/>
                      <a:pt x="3893296" y="455556"/>
                    </a:cubicBezTo>
                    <a:lnTo>
                      <a:pt x="27099" y="455556"/>
                    </a:lnTo>
                    <a:cubicBezTo>
                      <a:pt x="12132" y="455556"/>
                      <a:pt x="0" y="443424"/>
                      <a:pt x="0" y="428458"/>
                    </a:cubicBezTo>
                    <a:lnTo>
                      <a:pt x="0" y="27099"/>
                    </a:lnTo>
                    <a:cubicBezTo>
                      <a:pt x="0" y="19912"/>
                      <a:pt x="2855" y="13019"/>
                      <a:pt x="7937" y="7937"/>
                    </a:cubicBezTo>
                    <a:cubicBezTo>
                      <a:pt x="13019" y="2855"/>
                      <a:pt x="19912" y="0"/>
                      <a:pt x="2709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38100"/>
                <a:ext cx="3920395" cy="49365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740054" y="195076"/>
              <a:ext cx="18204727" cy="18980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30"/>
                </a:lnSpc>
              </a:pPr>
              <a:r>
                <a:rPr lang="en-US" sz="2735" b="1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Weeks 11</a:t>
              </a:r>
              <a:endParaRPr lang="en-US" sz="2735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  <a:p>
              <a:pPr algn="l">
                <a:lnSpc>
                  <a:spcPts val="3830"/>
                </a:lnSpc>
                <a:spcBef>
                  <a:spcPct val="0"/>
                </a:spcBef>
              </a:pPr>
              <a:r>
                <a:rPr lang="en-US" sz="2735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Finalized designs, organized assets/documentation and reviewed work with supervisor.</a:t>
              </a:r>
              <a:endParaRPr lang="en-US" sz="273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 rot="0">
            <a:off x="2133355" y="7709676"/>
            <a:ext cx="14570446" cy="1207334"/>
            <a:chOff x="0" y="0"/>
            <a:chExt cx="19427261" cy="1609779"/>
          </a:xfrm>
        </p:grpSpPr>
        <p:grpSp>
          <p:nvGrpSpPr>
            <p:cNvPr id="19" name="Group 19"/>
            <p:cNvGrpSpPr/>
            <p:nvPr/>
          </p:nvGrpSpPr>
          <p:grpSpPr>
            <a:xfrm rot="0">
              <a:off x="0" y="0"/>
              <a:ext cx="19427261" cy="1609779"/>
              <a:chOff x="0" y="0"/>
              <a:chExt cx="3920395" cy="324851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3920394" cy="324851"/>
              </a:xfrm>
              <a:custGeom>
                <a:avLst/>
                <a:gdLst/>
                <a:ahLst/>
                <a:cxnLst/>
                <a:rect l="l" t="t" r="r" b="b"/>
                <a:pathLst>
                  <a:path w="3920394" h="324851">
                    <a:moveTo>
                      <a:pt x="27099" y="0"/>
                    </a:moveTo>
                    <a:lnTo>
                      <a:pt x="3893296" y="0"/>
                    </a:lnTo>
                    <a:cubicBezTo>
                      <a:pt x="3900483" y="0"/>
                      <a:pt x="3907375" y="2855"/>
                      <a:pt x="3912457" y="7937"/>
                    </a:cubicBezTo>
                    <a:cubicBezTo>
                      <a:pt x="3917540" y="13019"/>
                      <a:pt x="3920394" y="19912"/>
                      <a:pt x="3920394" y="27099"/>
                    </a:cubicBezTo>
                    <a:lnTo>
                      <a:pt x="3920394" y="297753"/>
                    </a:lnTo>
                    <a:cubicBezTo>
                      <a:pt x="3920394" y="312719"/>
                      <a:pt x="3908262" y="324851"/>
                      <a:pt x="3893296" y="324851"/>
                    </a:cubicBezTo>
                    <a:lnTo>
                      <a:pt x="27099" y="324851"/>
                    </a:lnTo>
                    <a:cubicBezTo>
                      <a:pt x="12132" y="324851"/>
                      <a:pt x="0" y="312719"/>
                      <a:pt x="0" y="297753"/>
                    </a:cubicBezTo>
                    <a:lnTo>
                      <a:pt x="0" y="27099"/>
                    </a:lnTo>
                    <a:cubicBezTo>
                      <a:pt x="0" y="19912"/>
                      <a:pt x="2855" y="13019"/>
                      <a:pt x="7937" y="7937"/>
                    </a:cubicBezTo>
                    <a:cubicBezTo>
                      <a:pt x="13019" y="2855"/>
                      <a:pt x="19912" y="0"/>
                      <a:pt x="2709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3920395" cy="36295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740054" y="195076"/>
              <a:ext cx="18204727" cy="12503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30"/>
                </a:lnSpc>
              </a:pPr>
              <a:r>
                <a:rPr lang="en-US" sz="2735" b="1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Status in Report</a:t>
              </a:r>
              <a:endParaRPr lang="en-US" sz="2735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  <a:p>
              <a:pPr algn="l">
                <a:lnSpc>
                  <a:spcPts val="3830"/>
                </a:lnSpc>
                <a:spcBef>
                  <a:spcPct val="0"/>
                </a:spcBef>
              </a:pPr>
              <a:r>
                <a:rPr lang="en-US" sz="2735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Some page like location, subscription,order history of coffee shop are remaining.</a:t>
              </a:r>
              <a:endParaRPr lang="en-US" sz="273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23" name="PageNumber"/>
          <p:cNvSpPr txBox="1"/>
          <p:nvPr/>
        </p:nvSpPr>
        <p:spPr>
          <a:xfrm>
            <a:off x="8876030" y="9784017"/>
            <a:ext cx="535940" cy="47561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>
                <a:solidFill>
                  <a:srgbClr val="5A5A5A"/>
                </a:solidFill>
                <a:latin typeface="Arial" panose="020B0604020202020204"/>
              </a:rPr>
              <a:t>13</a:t>
            </a:r>
            <a:endParaRPr sz="2500">
              <a:solidFill>
                <a:srgbClr val="5A5A5A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9834985"/>
            <a:ext cx="18769279" cy="904030"/>
            <a:chOff x="0" y="0"/>
            <a:chExt cx="4943349" cy="2380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43349" cy="238098"/>
            </a:xfrm>
            <a:custGeom>
              <a:avLst/>
              <a:gdLst/>
              <a:ahLst/>
              <a:cxnLst/>
              <a:rect l="l" t="t" r="r" b="b"/>
              <a:pathLst>
                <a:path w="4943349" h="238098">
                  <a:moveTo>
                    <a:pt x="0" y="0"/>
                  </a:moveTo>
                  <a:lnTo>
                    <a:pt x="4943349" y="0"/>
                  </a:lnTo>
                  <a:lnTo>
                    <a:pt x="4943349" y="238098"/>
                  </a:lnTo>
                  <a:lnTo>
                    <a:pt x="0" y="238098"/>
                  </a:lnTo>
                  <a:close/>
                </a:path>
              </a:pathLst>
            </a:custGeom>
            <a:solidFill>
              <a:srgbClr val="F2693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943349" cy="2761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-1135102" y="1028700"/>
            <a:ext cx="3433677" cy="1098777"/>
          </a:xfrm>
          <a:custGeom>
            <a:avLst/>
            <a:gdLst/>
            <a:ahLst/>
            <a:cxnLst/>
            <a:rect l="l" t="t" r="r" b="b"/>
            <a:pathLst>
              <a:path w="3433677" h="1098777">
                <a:moveTo>
                  <a:pt x="0" y="0"/>
                </a:moveTo>
                <a:lnTo>
                  <a:pt x="3433677" y="0"/>
                </a:lnTo>
                <a:lnTo>
                  <a:pt x="3433677" y="1098777"/>
                </a:lnTo>
                <a:lnTo>
                  <a:pt x="0" y="1098777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29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6" name="Freeform 6"/>
          <p:cNvSpPr/>
          <p:nvPr/>
        </p:nvSpPr>
        <p:spPr>
          <a:xfrm rot="-5400000">
            <a:off x="17005414" y="7885739"/>
            <a:ext cx="2672523" cy="855207"/>
          </a:xfrm>
          <a:custGeom>
            <a:avLst/>
            <a:gdLst/>
            <a:ahLst/>
            <a:cxnLst/>
            <a:rect l="l" t="t" r="r" b="b"/>
            <a:pathLst>
              <a:path w="2672523" h="855207">
                <a:moveTo>
                  <a:pt x="0" y="0"/>
                </a:moveTo>
                <a:lnTo>
                  <a:pt x="2672523" y="0"/>
                </a:lnTo>
                <a:lnTo>
                  <a:pt x="2672523" y="855208"/>
                </a:lnTo>
                <a:lnTo>
                  <a:pt x="0" y="855208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29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7" name="TextBox 7"/>
          <p:cNvSpPr txBox="1"/>
          <p:nvPr/>
        </p:nvSpPr>
        <p:spPr>
          <a:xfrm>
            <a:off x="2525836" y="641099"/>
            <a:ext cx="15946180" cy="1525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00"/>
              </a:lnSpc>
            </a:pPr>
            <a:r>
              <a:rPr lang="en-US" sz="6500">
                <a:solidFill>
                  <a:srgbClr val="F26934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rPr>
              <a:t>Technical &amp; Professional Learning</a:t>
            </a:r>
            <a:endParaRPr lang="en-US" sz="6500">
              <a:solidFill>
                <a:srgbClr val="F26934"/>
              </a:solidFill>
              <a:latin typeface="Impact" panose="020B0806030902050204"/>
              <a:ea typeface="Impact" panose="020B0806030902050204"/>
              <a:cs typeface="Impact" panose="020B0806030902050204"/>
              <a:sym typeface="Impact" panose="020B0806030902050204"/>
            </a:endParaRPr>
          </a:p>
        </p:txBody>
      </p:sp>
      <p:grpSp>
        <p:nvGrpSpPr>
          <p:cNvPr id="8" name="Group 8"/>
          <p:cNvGrpSpPr/>
          <p:nvPr/>
        </p:nvGrpSpPr>
        <p:grpSpPr>
          <a:xfrm rot="0">
            <a:off x="2298575" y="2931045"/>
            <a:ext cx="14570446" cy="6264691"/>
            <a:chOff x="0" y="0"/>
            <a:chExt cx="19427261" cy="8352921"/>
          </a:xfrm>
        </p:grpSpPr>
        <p:grpSp>
          <p:nvGrpSpPr>
            <p:cNvPr id="9" name="Group 9"/>
            <p:cNvGrpSpPr/>
            <p:nvPr/>
          </p:nvGrpSpPr>
          <p:grpSpPr>
            <a:xfrm rot="0">
              <a:off x="0" y="0"/>
              <a:ext cx="19427261" cy="8302525"/>
              <a:chOff x="0" y="0"/>
              <a:chExt cx="3920395" cy="167543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3920394" cy="1675438"/>
              </a:xfrm>
              <a:custGeom>
                <a:avLst/>
                <a:gdLst/>
                <a:ahLst/>
                <a:cxnLst/>
                <a:rect l="l" t="t" r="r" b="b"/>
                <a:pathLst>
                  <a:path w="3920394" h="1675438">
                    <a:moveTo>
                      <a:pt x="27099" y="0"/>
                    </a:moveTo>
                    <a:lnTo>
                      <a:pt x="3893296" y="0"/>
                    </a:lnTo>
                    <a:cubicBezTo>
                      <a:pt x="3900483" y="0"/>
                      <a:pt x="3907375" y="2855"/>
                      <a:pt x="3912457" y="7937"/>
                    </a:cubicBezTo>
                    <a:cubicBezTo>
                      <a:pt x="3917540" y="13019"/>
                      <a:pt x="3920394" y="19912"/>
                      <a:pt x="3920394" y="27099"/>
                    </a:cubicBezTo>
                    <a:lnTo>
                      <a:pt x="3920394" y="1648340"/>
                    </a:lnTo>
                    <a:cubicBezTo>
                      <a:pt x="3920394" y="1663306"/>
                      <a:pt x="3908262" y="1675438"/>
                      <a:pt x="3893296" y="1675438"/>
                    </a:cubicBezTo>
                    <a:lnTo>
                      <a:pt x="27099" y="1675438"/>
                    </a:lnTo>
                    <a:cubicBezTo>
                      <a:pt x="19912" y="1675438"/>
                      <a:pt x="13019" y="1672583"/>
                      <a:pt x="7937" y="1667501"/>
                    </a:cubicBezTo>
                    <a:cubicBezTo>
                      <a:pt x="2855" y="1662419"/>
                      <a:pt x="0" y="1655526"/>
                      <a:pt x="0" y="1648340"/>
                    </a:cubicBezTo>
                    <a:lnTo>
                      <a:pt x="0" y="27099"/>
                    </a:lnTo>
                    <a:cubicBezTo>
                      <a:pt x="0" y="19912"/>
                      <a:pt x="2855" y="13019"/>
                      <a:pt x="7937" y="7937"/>
                    </a:cubicBezTo>
                    <a:cubicBezTo>
                      <a:pt x="13019" y="2855"/>
                      <a:pt x="19912" y="0"/>
                      <a:pt x="2709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3920395" cy="171353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740054" y="166501"/>
              <a:ext cx="18204727" cy="81864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820420" lvl="1" indent="-410210" algn="just">
                <a:lnSpc>
                  <a:spcPts val="5320"/>
                </a:lnSpc>
                <a:buFont typeface="Arial" panose="020B0604020202020204"/>
                <a:buChar char="•"/>
              </a:pPr>
              <a:r>
                <a:rPr lang="en-US" sz="38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User-centered UI/UX process</a:t>
              </a:r>
              <a:endParaRPr lang="en-US" sz="3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820420" lvl="1" indent="-410210" algn="just">
                <a:lnSpc>
                  <a:spcPts val="5320"/>
                </a:lnSpc>
                <a:buFont typeface="Arial" panose="020B0604020202020204"/>
                <a:buChar char="•"/>
              </a:pPr>
              <a:r>
                <a:rPr lang="en-US" sz="38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Wireframing, prototyping and high-fidelity UI design</a:t>
              </a:r>
              <a:endParaRPr lang="en-US" sz="3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820420" lvl="1" indent="-410210" algn="just">
                <a:lnSpc>
                  <a:spcPts val="5320"/>
                </a:lnSpc>
                <a:buFont typeface="Arial" panose="020B0604020202020204"/>
                <a:buChar char="•"/>
              </a:pPr>
              <a:r>
                <a:rPr lang="en-US" sz="38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Design systems and reusable components</a:t>
              </a:r>
              <a:endParaRPr lang="en-US" sz="3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820420" lvl="1" indent="-410210" algn="just">
                <a:lnSpc>
                  <a:spcPts val="5320"/>
                </a:lnSpc>
                <a:buFont typeface="Arial" panose="020B0604020202020204"/>
                <a:buChar char="•"/>
              </a:pPr>
              <a:r>
                <a:rPr lang="en-US" sz="38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Usability, accessibility and responsive design</a:t>
              </a:r>
              <a:endParaRPr lang="en-US" sz="3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820420" lvl="1" indent="-410210" algn="just">
                <a:lnSpc>
                  <a:spcPts val="5320"/>
                </a:lnSpc>
                <a:buFont typeface="Arial" panose="020B0604020202020204"/>
                <a:buChar char="•"/>
              </a:pPr>
              <a:r>
                <a:rPr lang="en-US" sz="38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Creativity and problem solving</a:t>
              </a:r>
              <a:endParaRPr lang="en-US" sz="3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820420" lvl="1" indent="-410210" algn="just">
                <a:lnSpc>
                  <a:spcPts val="5320"/>
                </a:lnSpc>
                <a:buFont typeface="Arial" panose="020B0604020202020204"/>
                <a:buChar char="•"/>
              </a:pPr>
              <a:r>
                <a:rPr lang="en-US" sz="38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Communication, collaboration and teamwork</a:t>
              </a:r>
              <a:endParaRPr lang="en-US" sz="3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820420" lvl="1" indent="-410210" algn="just">
                <a:lnSpc>
                  <a:spcPts val="5320"/>
                </a:lnSpc>
                <a:buFont typeface="Arial" panose="020B0604020202020204"/>
                <a:buChar char="•"/>
              </a:pPr>
              <a:r>
                <a:rPr lang="en-US" sz="38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Time management and adaptability</a:t>
              </a:r>
              <a:endParaRPr lang="en-US" sz="3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820420" lvl="1" indent="-410210" algn="just">
                <a:lnSpc>
                  <a:spcPts val="5320"/>
                </a:lnSpc>
                <a:buFont typeface="Arial" panose="020B0604020202020204"/>
                <a:buChar char="•"/>
              </a:pPr>
              <a:r>
                <a:rPr lang="en-US" sz="38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Presenting ideas and receiving feedback</a:t>
              </a:r>
              <a:endParaRPr lang="en-US" sz="3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820420" lvl="1" indent="-410210" algn="just">
                <a:lnSpc>
                  <a:spcPts val="5320"/>
                </a:lnSpc>
                <a:buFont typeface="Arial" panose="020B0604020202020204"/>
                <a:buChar char="•"/>
              </a:pPr>
              <a:r>
                <a:rPr lang="en-US" sz="38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Confidence in pratical UI/UX work</a:t>
              </a:r>
              <a:endParaRPr lang="en-US" sz="3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3" name="PageNumber"/>
          <p:cNvSpPr txBox="1"/>
          <p:nvPr/>
        </p:nvSpPr>
        <p:spPr>
          <a:xfrm>
            <a:off x="8876030" y="9784017"/>
            <a:ext cx="535940" cy="47561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>
                <a:solidFill>
                  <a:srgbClr val="5A5A5A"/>
                </a:solidFill>
                <a:latin typeface="Arial" panose="020B0604020202020204"/>
              </a:rPr>
              <a:t>14</a:t>
            </a:r>
            <a:endParaRPr sz="2500">
              <a:solidFill>
                <a:srgbClr val="5A5A5A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9834985"/>
            <a:ext cx="18769279" cy="904030"/>
            <a:chOff x="0" y="0"/>
            <a:chExt cx="4943349" cy="2380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43349" cy="238098"/>
            </a:xfrm>
            <a:custGeom>
              <a:avLst/>
              <a:gdLst/>
              <a:ahLst/>
              <a:cxnLst/>
              <a:rect l="l" t="t" r="r" b="b"/>
              <a:pathLst>
                <a:path w="4943349" h="238098">
                  <a:moveTo>
                    <a:pt x="0" y="0"/>
                  </a:moveTo>
                  <a:lnTo>
                    <a:pt x="4943349" y="0"/>
                  </a:lnTo>
                  <a:lnTo>
                    <a:pt x="4943349" y="238098"/>
                  </a:lnTo>
                  <a:lnTo>
                    <a:pt x="0" y="238098"/>
                  </a:lnTo>
                  <a:close/>
                </a:path>
              </a:pathLst>
            </a:custGeom>
            <a:solidFill>
              <a:srgbClr val="F2693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943349" cy="2761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-1135102" y="1028700"/>
            <a:ext cx="3433677" cy="1098777"/>
          </a:xfrm>
          <a:custGeom>
            <a:avLst/>
            <a:gdLst/>
            <a:ahLst/>
            <a:cxnLst/>
            <a:rect l="l" t="t" r="r" b="b"/>
            <a:pathLst>
              <a:path w="3433677" h="1098777">
                <a:moveTo>
                  <a:pt x="0" y="0"/>
                </a:moveTo>
                <a:lnTo>
                  <a:pt x="3433677" y="0"/>
                </a:lnTo>
                <a:lnTo>
                  <a:pt x="3433677" y="1098777"/>
                </a:lnTo>
                <a:lnTo>
                  <a:pt x="0" y="1098777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29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6" name="Freeform 6"/>
          <p:cNvSpPr/>
          <p:nvPr/>
        </p:nvSpPr>
        <p:spPr>
          <a:xfrm rot="-5400000">
            <a:off x="17005414" y="7885739"/>
            <a:ext cx="2672523" cy="855207"/>
          </a:xfrm>
          <a:custGeom>
            <a:avLst/>
            <a:gdLst/>
            <a:ahLst/>
            <a:cxnLst/>
            <a:rect l="l" t="t" r="r" b="b"/>
            <a:pathLst>
              <a:path w="2672523" h="855207">
                <a:moveTo>
                  <a:pt x="0" y="0"/>
                </a:moveTo>
                <a:lnTo>
                  <a:pt x="2672523" y="0"/>
                </a:lnTo>
                <a:lnTo>
                  <a:pt x="2672523" y="855208"/>
                </a:lnTo>
                <a:lnTo>
                  <a:pt x="0" y="855208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29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7" name="TextBox 7"/>
          <p:cNvSpPr txBox="1"/>
          <p:nvPr/>
        </p:nvSpPr>
        <p:spPr>
          <a:xfrm>
            <a:off x="2525836" y="641099"/>
            <a:ext cx="13323627" cy="1612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00"/>
              </a:lnSpc>
            </a:pPr>
            <a:r>
              <a:rPr lang="en-US" sz="8500">
                <a:solidFill>
                  <a:srgbClr val="F26934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rPr>
              <a:t>Conclusion</a:t>
            </a:r>
            <a:endParaRPr lang="en-US" sz="8500">
              <a:solidFill>
                <a:srgbClr val="F26934"/>
              </a:solidFill>
              <a:latin typeface="Impact" panose="020B0806030902050204"/>
              <a:ea typeface="Impact" panose="020B0806030902050204"/>
              <a:cs typeface="Impact" panose="020B0806030902050204"/>
              <a:sym typeface="Impact" panose="020B0806030902050204"/>
            </a:endParaRPr>
          </a:p>
        </p:txBody>
      </p:sp>
      <p:grpSp>
        <p:nvGrpSpPr>
          <p:cNvPr id="8" name="Group 8"/>
          <p:cNvGrpSpPr/>
          <p:nvPr/>
        </p:nvGrpSpPr>
        <p:grpSpPr>
          <a:xfrm rot="0">
            <a:off x="2362006" y="3455986"/>
            <a:ext cx="14570446" cy="4876022"/>
            <a:chOff x="0" y="0"/>
            <a:chExt cx="19427261" cy="6501363"/>
          </a:xfrm>
        </p:grpSpPr>
        <p:grpSp>
          <p:nvGrpSpPr>
            <p:cNvPr id="9" name="Group 9"/>
            <p:cNvGrpSpPr/>
            <p:nvPr/>
          </p:nvGrpSpPr>
          <p:grpSpPr>
            <a:xfrm rot="0">
              <a:off x="0" y="0"/>
              <a:ext cx="19427261" cy="6501363"/>
              <a:chOff x="0" y="0"/>
              <a:chExt cx="3920395" cy="1311966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3920394" cy="1311966"/>
              </a:xfrm>
              <a:custGeom>
                <a:avLst/>
                <a:gdLst/>
                <a:ahLst/>
                <a:cxnLst/>
                <a:rect l="l" t="t" r="r" b="b"/>
                <a:pathLst>
                  <a:path w="3920394" h="1311966">
                    <a:moveTo>
                      <a:pt x="27099" y="0"/>
                    </a:moveTo>
                    <a:lnTo>
                      <a:pt x="3893296" y="0"/>
                    </a:lnTo>
                    <a:cubicBezTo>
                      <a:pt x="3900483" y="0"/>
                      <a:pt x="3907375" y="2855"/>
                      <a:pt x="3912457" y="7937"/>
                    </a:cubicBezTo>
                    <a:cubicBezTo>
                      <a:pt x="3917540" y="13019"/>
                      <a:pt x="3920394" y="19912"/>
                      <a:pt x="3920394" y="27099"/>
                    </a:cubicBezTo>
                    <a:lnTo>
                      <a:pt x="3920394" y="1284868"/>
                    </a:lnTo>
                    <a:cubicBezTo>
                      <a:pt x="3920394" y="1299834"/>
                      <a:pt x="3908262" y="1311966"/>
                      <a:pt x="3893296" y="1311966"/>
                    </a:cubicBezTo>
                    <a:lnTo>
                      <a:pt x="27099" y="1311966"/>
                    </a:lnTo>
                    <a:cubicBezTo>
                      <a:pt x="19912" y="1311966"/>
                      <a:pt x="13019" y="1309111"/>
                      <a:pt x="7937" y="1304029"/>
                    </a:cubicBezTo>
                    <a:cubicBezTo>
                      <a:pt x="2855" y="1298947"/>
                      <a:pt x="0" y="1292055"/>
                      <a:pt x="0" y="1284868"/>
                    </a:cubicBezTo>
                    <a:lnTo>
                      <a:pt x="0" y="27099"/>
                    </a:lnTo>
                    <a:cubicBezTo>
                      <a:pt x="0" y="19912"/>
                      <a:pt x="2855" y="13019"/>
                      <a:pt x="7937" y="7937"/>
                    </a:cubicBezTo>
                    <a:cubicBezTo>
                      <a:pt x="13019" y="2855"/>
                      <a:pt x="19912" y="0"/>
                      <a:pt x="2709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3920395" cy="13500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740054" y="166501"/>
              <a:ext cx="18204727" cy="61705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820420" lvl="1" indent="-410210" algn="just">
                <a:lnSpc>
                  <a:spcPts val="5320"/>
                </a:lnSpc>
                <a:buFont typeface="Arial" panose="020B0604020202020204"/>
                <a:buChar char="•"/>
              </a:pPr>
              <a:r>
                <a:rPr lang="en-US" sz="38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The internship cconnected acadenic UI/UX knowledge with practical industry work.</a:t>
              </a:r>
              <a:endParaRPr lang="en-US" sz="3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820420" lvl="1" indent="-410210" algn="just">
                <a:lnSpc>
                  <a:spcPts val="5320"/>
                </a:lnSpc>
                <a:buFont typeface="Arial" panose="020B0604020202020204"/>
                <a:buChar char="•"/>
              </a:pPr>
              <a:r>
                <a:rPr lang="en-US" sz="38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The Coffee Shop Mobile Application strengthened skills in wireframing, visual design, prototyping and design refining.</a:t>
              </a:r>
              <a:endParaRPr lang="en-US" sz="3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820420" lvl="1" indent="-410210" algn="just">
                <a:lnSpc>
                  <a:spcPts val="5320"/>
                </a:lnSpc>
                <a:buFont typeface="Arial" panose="020B0604020202020204"/>
                <a:buChar char="•"/>
              </a:pPr>
              <a:r>
                <a:rPr lang="en-US" sz="38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The experience improved technical, creative, communication and teamwork skills.</a:t>
              </a:r>
              <a:endParaRPr lang="en-US" sz="3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3" name="PageNumber"/>
          <p:cNvSpPr txBox="1"/>
          <p:nvPr/>
        </p:nvSpPr>
        <p:spPr>
          <a:xfrm>
            <a:off x="8876030" y="9784017"/>
            <a:ext cx="535940" cy="47561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>
                <a:solidFill>
                  <a:srgbClr val="5A5A5A"/>
                </a:solidFill>
                <a:latin typeface="Arial" panose="020B0604020202020204"/>
              </a:rPr>
              <a:t>15</a:t>
            </a:r>
            <a:endParaRPr sz="2500">
              <a:solidFill>
                <a:srgbClr val="5A5A5A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064251" y="7227934"/>
            <a:ext cx="2223749" cy="3059066"/>
          </a:xfrm>
          <a:custGeom>
            <a:avLst/>
            <a:gdLst/>
            <a:ahLst/>
            <a:cxnLst/>
            <a:rect l="l" t="t" r="r" b="b"/>
            <a:pathLst>
              <a:path w="2223749" h="3059066">
                <a:moveTo>
                  <a:pt x="0" y="0"/>
                </a:moveTo>
                <a:lnTo>
                  <a:pt x="2223749" y="0"/>
                </a:lnTo>
                <a:lnTo>
                  <a:pt x="2223749" y="3059066"/>
                </a:lnTo>
                <a:lnTo>
                  <a:pt x="0" y="3059066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  <p:txBody>
          <a:bodyPr/>
          <a:p/>
        </p:txBody>
      </p:sp>
      <p:sp>
        <p:nvSpPr>
          <p:cNvPr id="3" name="Freeform 3"/>
          <p:cNvSpPr/>
          <p:nvPr/>
        </p:nvSpPr>
        <p:spPr>
          <a:xfrm>
            <a:off x="-83174" y="0"/>
            <a:ext cx="2223749" cy="3059066"/>
          </a:xfrm>
          <a:custGeom>
            <a:avLst/>
            <a:gdLst/>
            <a:ahLst/>
            <a:cxnLst/>
            <a:rect l="l" t="t" r="r" b="b"/>
            <a:pathLst>
              <a:path w="2223749" h="3059066">
                <a:moveTo>
                  <a:pt x="0" y="0"/>
                </a:moveTo>
                <a:lnTo>
                  <a:pt x="2223748" y="0"/>
                </a:lnTo>
                <a:lnTo>
                  <a:pt x="2223748" y="3059066"/>
                </a:lnTo>
                <a:lnTo>
                  <a:pt x="0" y="3059066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  <p:txBody>
          <a:bodyPr/>
          <a:p/>
        </p:txBody>
      </p:sp>
      <p:sp>
        <p:nvSpPr>
          <p:cNvPr id="4" name="Freeform 4"/>
          <p:cNvSpPr/>
          <p:nvPr/>
        </p:nvSpPr>
        <p:spPr>
          <a:xfrm>
            <a:off x="4211116" y="1883177"/>
            <a:ext cx="9782593" cy="7375123"/>
          </a:xfrm>
          <a:custGeom>
            <a:avLst/>
            <a:gdLst/>
            <a:ahLst/>
            <a:cxnLst/>
            <a:rect l="l" t="t" r="r" b="b"/>
            <a:pathLst>
              <a:path w="9782593" h="7375123">
                <a:moveTo>
                  <a:pt x="0" y="0"/>
                </a:moveTo>
                <a:lnTo>
                  <a:pt x="9782594" y="0"/>
                </a:lnTo>
                <a:lnTo>
                  <a:pt x="9782594" y="7375123"/>
                </a:lnTo>
                <a:lnTo>
                  <a:pt x="0" y="73751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66" r="-3266"/>
            </a:stretch>
          </a:blipFill>
        </p:spPr>
        <p:txBody>
          <a:bodyPr/>
          <a:p/>
        </p:txBody>
      </p:sp>
      <p:sp>
        <p:nvSpPr>
          <p:cNvPr id="5" name="PageNumber"/>
          <p:cNvSpPr txBox="1"/>
          <p:nvPr/>
        </p:nvSpPr>
        <p:spPr>
          <a:xfrm>
            <a:off x="8876030" y="9784017"/>
            <a:ext cx="535940" cy="47561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>
                <a:solidFill>
                  <a:srgbClr val="5A5A5A"/>
                </a:solidFill>
                <a:latin typeface="Arial" panose="020B0604020202020204"/>
              </a:rPr>
              <a:t>16</a:t>
            </a:r>
            <a:endParaRPr sz="2500">
              <a:solidFill>
                <a:srgbClr val="5A5A5A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3321</Words>
  <Application>WPS Presentation</Application>
  <PresentationFormat>On-screen Show (4:3)</PresentationFormat>
  <Paragraphs>165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8" baseType="lpstr">
      <vt:lpstr>Arial</vt:lpstr>
      <vt:lpstr>SimSun</vt:lpstr>
      <vt:lpstr>Wingdings</vt:lpstr>
      <vt:lpstr>DM Sans</vt:lpstr>
      <vt:lpstr>Impact</vt:lpstr>
      <vt:lpstr>Arial</vt:lpstr>
      <vt:lpstr>DM Sans Bold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Internship Presentation</dc:title>
  <dc:creator/>
  <cp:lastModifiedBy>Safalta Shrestha</cp:lastModifiedBy>
  <cp:revision>8</cp:revision>
  <dcterms:created xsi:type="dcterms:W3CDTF">2006-08-16T00:00:00Z</dcterms:created>
  <dcterms:modified xsi:type="dcterms:W3CDTF">2026-08-14T00:11:44Z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6EDFAEB845CF41729839356855E8C7BB_12</vt:lpwstr>
  </property>
</Properties>
</file>